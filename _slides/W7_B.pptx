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2" r:id="rId4"/>
    <p:sldMasterId id="214748366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badbb0b52c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g3badbb0b52c_0_2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badbb0b52c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ICER’s data center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Data centers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around the world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 the US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 Michigan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Lansing (hopefully not)</a:t>
            </a:r>
            <a:endParaRPr/>
          </a:p>
        </p:txBody>
      </p:sp>
      <p:sp>
        <p:nvSpPr>
          <p:cNvPr id="73" name="Google Shape;73;g3badbb0b52c_0_4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c9914cce0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g3c9914cce0c_0_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cb6397a508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 step-by-step, it really is a back and forth process</a:t>
            </a:r>
            <a:endParaRPr/>
          </a:p>
        </p:txBody>
      </p:sp>
      <p:sp>
        <p:nvSpPr>
          <p:cNvPr id="86" name="Google Shape;86;g3cb6397a508_0_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cb6397a508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 step-by-step, it really is a back and forth process</a:t>
            </a:r>
            <a:endParaRPr/>
          </a:p>
        </p:txBody>
      </p:sp>
      <p:sp>
        <p:nvSpPr>
          <p:cNvPr id="92" name="Google Shape;92;g3cb6397a508_0_1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cb6397a508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g3cb6397a508_0_1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cb6397a508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3cb6397a508_0_2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b9198a577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g3b9198a5775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980966" y="954060"/>
            <a:ext cx="7190700" cy="8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980966" y="2106338"/>
            <a:ext cx="71907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640"/>
              </a:spcBef>
              <a:spcAft>
                <a:spcPts val="0"/>
              </a:spcAft>
              <a:buClr>
                <a:srgbClr val="3F3F3F"/>
              </a:buClr>
              <a:buSzPts val="3200"/>
              <a:buNone/>
              <a:defRPr>
                <a:solidFill>
                  <a:srgbClr val="3F3F3F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" type="body"/>
          </p:nvPr>
        </p:nvSpPr>
        <p:spPr>
          <a:xfrm>
            <a:off x="457200" y="1200150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rgbClr val="3F3F3F"/>
              </a:buClr>
              <a:buSzPts val="2800"/>
              <a:buChar char="•"/>
              <a:defRPr sz="2800">
                <a:solidFill>
                  <a:srgbClr val="3F3F3F"/>
                </a:solidFill>
              </a:defRPr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rgbClr val="3F3F3F"/>
              </a:buClr>
              <a:buSzPts val="2400"/>
              <a:buChar char="–"/>
              <a:defRPr sz="2400">
                <a:solidFill>
                  <a:srgbClr val="3F3F3F"/>
                </a:solidFill>
              </a:defRPr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60" name="Google Shape;60;p15"/>
          <p:cNvSpPr txBox="1"/>
          <p:nvPr>
            <p:ph idx="2" type="body"/>
          </p:nvPr>
        </p:nvSpPr>
        <p:spPr>
          <a:xfrm>
            <a:off x="4648200" y="1200150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rgbClr val="3F3F3F"/>
              </a:buClr>
              <a:buSzPts val="2800"/>
              <a:buChar char="•"/>
              <a:defRPr sz="2800">
                <a:solidFill>
                  <a:srgbClr val="3F3F3F"/>
                </a:solidFill>
              </a:defRPr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rgbClr val="3F3F3F"/>
              </a:buClr>
              <a:buSzPts val="2400"/>
              <a:buChar char="–"/>
              <a:defRPr sz="2400">
                <a:solidFill>
                  <a:srgbClr val="3F3F3F"/>
                </a:solidFill>
              </a:defRPr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1792288" y="3600450"/>
            <a:ext cx="54864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1792288" y="4025504"/>
            <a:ext cx="54864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0818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6BBD1B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6BBD1B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6BBD1B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6BBD1B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6BBD1B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6BBD1B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6BBD1B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6BBD1B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algn="l">
              <a:spcBef>
                <a:spcPts val="64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Michigan State University logo" id="53" name="Google Shape;53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3643313" y="4908517"/>
            <a:ext cx="1394217" cy="117694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youtu.be/-_-nqJ9Bzk8?si=N4G14Igwhv06Kcct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ctrTitle"/>
          </p:nvPr>
        </p:nvSpPr>
        <p:spPr>
          <a:xfrm>
            <a:off x="980966" y="954060"/>
            <a:ext cx="7190700" cy="8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Week7 a Session B</a:t>
            </a:r>
            <a:endParaRPr/>
          </a:p>
        </p:txBody>
      </p:sp>
      <p:sp>
        <p:nvSpPr>
          <p:cNvPr id="70" name="Google Shape;70;p17"/>
          <p:cNvSpPr txBox="1"/>
          <p:nvPr>
            <p:ph idx="1" type="subTitle"/>
          </p:nvPr>
        </p:nvSpPr>
        <p:spPr>
          <a:xfrm>
            <a:off x="980966" y="2106338"/>
            <a:ext cx="71907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None/>
            </a:pPr>
            <a:r>
              <a:rPr lang="en" sz="3000"/>
              <a:t>Thursday, Feb 26 2026</a:t>
            </a:r>
            <a:endParaRPr sz="3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>
            <a:off x="457200" y="154484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>
            <a:off x="457200" y="900125"/>
            <a:ext cx="6967800" cy="35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" sz="2000"/>
              <a:t>Roadmap after Spring Break: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–"/>
            </a:pPr>
            <a:r>
              <a:rPr lang="en" sz="2000"/>
              <a:t>3 Phases, 7 weeks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" sz="2000"/>
              <a:t>Text Analysis on Data Centers</a:t>
            </a:r>
            <a:endParaRPr sz="20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" sz="2000"/>
              <a:t>Week 7/Spring Break Assignmen</a:t>
            </a:r>
            <a:r>
              <a:rPr lang="en" sz="2200"/>
              <a:t>t</a:t>
            </a:r>
            <a:endParaRPr sz="2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9"/>
          <p:cNvSpPr txBox="1"/>
          <p:nvPr>
            <p:ph type="title"/>
          </p:nvPr>
        </p:nvSpPr>
        <p:spPr>
          <a:xfrm>
            <a:off x="457200" y="154484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Roadmap after Spring Break</a:t>
            </a:r>
            <a:endParaRPr sz="3200"/>
          </a:p>
        </p:txBody>
      </p:sp>
      <p:sp>
        <p:nvSpPr>
          <p:cNvPr id="82" name="Google Shape;82;p19"/>
          <p:cNvSpPr txBox="1"/>
          <p:nvPr>
            <p:ph idx="1" type="body"/>
          </p:nvPr>
        </p:nvSpPr>
        <p:spPr>
          <a:xfrm>
            <a:off x="552450" y="944300"/>
            <a:ext cx="7899000" cy="3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n" sz="1800"/>
              <a:t>Phase I:</a:t>
            </a:r>
            <a:endParaRPr b="1"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 sz="1800"/>
              <a:t>3/10 - 3/26: 3 weeks, 6 meetings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n" sz="1800"/>
              <a:t>Phase II:</a:t>
            </a:r>
            <a:endParaRPr b="1"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 sz="1800"/>
              <a:t>3/31 - 4/16: 3 weeks, 6 meetings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n" sz="1800"/>
              <a:t>Presentation Phase:</a:t>
            </a:r>
            <a:endParaRPr b="1"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 sz="1800"/>
              <a:t>4/17: UURAF (poster must be ready prior to this point)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 sz="1800"/>
              <a:t>4/21: Website Launch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 sz="1800"/>
              <a:t>4/23: Attend DH End-of-Year Celebration</a:t>
            </a:r>
            <a:endParaRPr sz="1800"/>
          </a:p>
        </p:txBody>
      </p:sp>
      <p:pic>
        <p:nvPicPr>
          <p:cNvPr id="83" name="Google Shape;8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98975" y="0"/>
            <a:ext cx="2579775" cy="257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0"/>
          <p:cNvSpPr txBox="1"/>
          <p:nvPr>
            <p:ph type="title"/>
          </p:nvPr>
        </p:nvSpPr>
        <p:spPr>
          <a:xfrm>
            <a:off x="457200" y="154484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How to </a:t>
            </a:r>
            <a:r>
              <a:rPr lang="en" sz="3200"/>
              <a:t>complete</a:t>
            </a:r>
            <a:r>
              <a:rPr lang="en" sz="3200"/>
              <a:t> a research project?</a:t>
            </a:r>
            <a:endParaRPr sz="3200"/>
          </a:p>
        </p:txBody>
      </p:sp>
      <p:sp>
        <p:nvSpPr>
          <p:cNvPr id="89" name="Google Shape;89;p20"/>
          <p:cNvSpPr txBox="1"/>
          <p:nvPr>
            <p:ph idx="1" type="body"/>
          </p:nvPr>
        </p:nvSpPr>
        <p:spPr>
          <a:xfrm>
            <a:off x="552450" y="944300"/>
            <a:ext cx="7899000" cy="3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Research Interests:</a:t>
            </a:r>
            <a:endParaRPr sz="150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–"/>
            </a:pPr>
            <a:r>
              <a:rPr lang="en" sz="1500"/>
              <a:t>What are some things we have talked about? AI, data centers, environmental impact!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Research Questions:</a:t>
            </a:r>
            <a:endParaRPr sz="150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–"/>
            </a:pPr>
            <a:r>
              <a:rPr lang="en" sz="1500"/>
              <a:t>A well-defined question that we hope to answer based on our research results.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Data:</a:t>
            </a:r>
            <a:endParaRPr sz="150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–"/>
            </a:pPr>
            <a:r>
              <a:rPr lang="en" sz="1500"/>
              <a:t>What are we studying?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Methods:</a:t>
            </a:r>
            <a:endParaRPr sz="150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–"/>
            </a:pPr>
            <a:r>
              <a:rPr lang="en" sz="1500"/>
              <a:t>Qualitative? Quantitative? A mixture of both?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Results:</a:t>
            </a:r>
            <a:endParaRPr sz="150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–"/>
            </a:pPr>
            <a:r>
              <a:rPr lang="en" sz="1500"/>
              <a:t>What did we find?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Analysis:</a:t>
            </a:r>
            <a:endParaRPr sz="150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–"/>
            </a:pPr>
            <a:r>
              <a:rPr lang="en" sz="1500"/>
              <a:t>How to articulate our results? How can our results help answer the research questions? </a:t>
            </a:r>
            <a:endParaRPr sz="1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1"/>
          <p:cNvSpPr txBox="1"/>
          <p:nvPr>
            <p:ph type="title"/>
          </p:nvPr>
        </p:nvSpPr>
        <p:spPr>
          <a:xfrm>
            <a:off x="457200" y="154484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Allow me to introduce the beauty of topic modeling..</a:t>
            </a:r>
            <a:endParaRPr sz="2500"/>
          </a:p>
        </p:txBody>
      </p:sp>
      <p:sp>
        <p:nvSpPr>
          <p:cNvPr id="95" name="Google Shape;95;p21"/>
          <p:cNvSpPr txBox="1"/>
          <p:nvPr>
            <p:ph idx="1" type="body"/>
          </p:nvPr>
        </p:nvSpPr>
        <p:spPr>
          <a:xfrm>
            <a:off x="552450" y="944300"/>
            <a:ext cx="7899000" cy="3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" sz="1200"/>
              <a:t>Research interests:</a:t>
            </a:r>
            <a:endParaRPr sz="1200"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–"/>
            </a:pPr>
            <a:r>
              <a:rPr lang="en" sz="1200"/>
              <a:t>What are some things we have talked about?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" sz="1200"/>
              <a:t>Research Questions:</a:t>
            </a:r>
            <a:endParaRPr sz="1200"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–"/>
            </a:pPr>
            <a:r>
              <a:rPr lang="en" sz="1200"/>
              <a:t>A well-defined question that we hope to answer based on our research results. Data centers in news! 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" sz="1200"/>
              <a:t>Data:</a:t>
            </a:r>
            <a:endParaRPr sz="1200"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–"/>
            </a:pPr>
            <a:r>
              <a:rPr lang="en" sz="1200"/>
              <a:t>What are we studying?</a:t>
            </a:r>
            <a:endParaRPr sz="1200"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–"/>
            </a:pPr>
            <a:r>
              <a:rPr lang="en" sz="1200"/>
              <a:t>NEWS </a:t>
            </a:r>
            <a:r>
              <a:rPr lang="en" sz="1200"/>
              <a:t>ARTICLE</a:t>
            </a:r>
            <a:r>
              <a:rPr lang="en" sz="1200"/>
              <a:t> data via MSU’s licensing!!!</a:t>
            </a:r>
            <a:endParaRPr sz="12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b="1" lang="en" sz="1500"/>
              <a:t>Methods:</a:t>
            </a:r>
            <a:endParaRPr b="1" sz="150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–"/>
            </a:pPr>
            <a:r>
              <a:rPr lang="en" sz="1500"/>
              <a:t>Text Analysis!--&gt; sentiment analysis, topic modeling (math)</a:t>
            </a:r>
            <a:endParaRPr sz="150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–"/>
            </a:pPr>
            <a:r>
              <a:rPr lang="en" sz="1500"/>
              <a:t>The beauty of </a:t>
            </a:r>
            <a:r>
              <a:rPr lang="en" sz="1500" u="sng">
                <a:solidFill>
                  <a:schemeClr val="hlink"/>
                </a:solidFill>
                <a:hlinkClick r:id="rId3"/>
              </a:rPr>
              <a:t>topic modeling</a:t>
            </a:r>
            <a:r>
              <a:rPr lang="en" sz="1500"/>
              <a:t>!</a:t>
            </a:r>
            <a:endParaRPr sz="15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" sz="1200"/>
              <a:t>Results:</a:t>
            </a:r>
            <a:endParaRPr sz="1200"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–"/>
            </a:pPr>
            <a:r>
              <a:rPr lang="en" sz="1200"/>
              <a:t>What did we find?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" sz="1200"/>
              <a:t>Analysis:</a:t>
            </a:r>
            <a:endParaRPr sz="1200"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–"/>
            </a:pPr>
            <a:r>
              <a:rPr lang="en" sz="1200"/>
              <a:t>How to articulate our results? How can our results help answer the research questions? </a:t>
            </a:r>
            <a:endParaRPr sz="1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2"/>
          <p:cNvSpPr txBox="1"/>
          <p:nvPr>
            <p:ph type="title"/>
          </p:nvPr>
        </p:nvSpPr>
        <p:spPr>
          <a:xfrm>
            <a:off x="457200" y="154484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Our Research Project - Today’s tasks</a:t>
            </a:r>
            <a:endParaRPr sz="3200"/>
          </a:p>
        </p:txBody>
      </p:sp>
      <p:sp>
        <p:nvSpPr>
          <p:cNvPr id="101" name="Google Shape;101;p22"/>
          <p:cNvSpPr txBox="1"/>
          <p:nvPr>
            <p:ph idx="1" type="body"/>
          </p:nvPr>
        </p:nvSpPr>
        <p:spPr>
          <a:xfrm>
            <a:off x="552450" y="944300"/>
            <a:ext cx="7899000" cy="3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Research interests: </a:t>
            </a:r>
            <a:r>
              <a:rPr lang="en" sz="1100"/>
              <a:t>(What are some things we have talked about?)</a:t>
            </a:r>
            <a:endParaRPr sz="110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–"/>
            </a:pPr>
            <a:r>
              <a:rPr lang="en" sz="1500"/>
              <a:t>AI, data centers, environmental impact of 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b="1" lang="en" sz="1500"/>
              <a:t>Research Questions: </a:t>
            </a:r>
            <a:r>
              <a:rPr lang="en" sz="1100"/>
              <a:t>(A well-defined question that we hope to answer based on our research results)</a:t>
            </a: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–"/>
            </a:pPr>
            <a:r>
              <a:rPr lang="en" sz="1100"/>
              <a:t>How can we teach students about AI→ the student perception of AI education in higher ed right now!; what are the effects of the data centers in lansing; environmental impact of ICER or their HPPC; if training a model takes a lot of money and labor and has other impacts, what else can we achieve by having these resources?</a:t>
            </a:r>
            <a:endParaRPr sz="11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b="1" lang="en" sz="1500"/>
              <a:t>Data:</a:t>
            </a:r>
            <a:r>
              <a:rPr lang="en" sz="1100"/>
              <a:t> (What are we studying?) (Where can I find data?)</a:t>
            </a: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–"/>
            </a:pPr>
            <a:r>
              <a:rPr lang="en" sz="1100"/>
              <a:t>Survey data, multiple choices, open-ended questions→ FCC; people who live here, survey interview survey, fears, news!; ICER documentations; news, financial reports.</a:t>
            </a:r>
            <a:endParaRPr sz="11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Methods: (</a:t>
            </a:r>
            <a:r>
              <a:rPr lang="en" sz="1100"/>
              <a:t>Qualitative? Quantitative? A mixture of both?)</a:t>
            </a: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–"/>
            </a:pPr>
            <a:r>
              <a:rPr lang="en" sz="1100"/>
              <a:t>Qualitative:  not all numbers!!! Quantitative data: numbers </a:t>
            </a: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–"/>
            </a:pPr>
            <a:r>
              <a:rPr lang="en" sz="1100"/>
              <a:t>Mixed methods: pro and cons: more data is always more informative! Tells a more complete story! HARDER!!! </a:t>
            </a:r>
            <a:endParaRPr sz="11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Results: </a:t>
            </a:r>
            <a:r>
              <a:rPr lang="en" sz="1100"/>
              <a:t>(What did we find?)</a:t>
            </a:r>
            <a:endParaRPr sz="110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–"/>
            </a:pPr>
            <a:r>
              <a:rPr lang="en" sz="1500"/>
              <a:t>TBD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Analysis: </a:t>
            </a:r>
            <a:r>
              <a:rPr lang="en" sz="1100"/>
              <a:t>(How to articulate our results? How can our results help answer the research questions?)</a:t>
            </a:r>
            <a:endParaRPr sz="110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–"/>
            </a:pPr>
            <a:r>
              <a:rPr lang="en" sz="1500"/>
              <a:t>TBD</a:t>
            </a:r>
            <a:endParaRPr sz="15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 txBox="1"/>
          <p:nvPr>
            <p:ph type="title"/>
          </p:nvPr>
        </p:nvSpPr>
        <p:spPr>
          <a:xfrm>
            <a:off x="457200" y="154484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Our Research Project - Today’s tasks</a:t>
            </a:r>
            <a:endParaRPr sz="3200"/>
          </a:p>
        </p:txBody>
      </p:sp>
      <p:sp>
        <p:nvSpPr>
          <p:cNvPr id="107" name="Google Shape;107;p23"/>
          <p:cNvSpPr txBox="1"/>
          <p:nvPr>
            <p:ph idx="1" type="body"/>
          </p:nvPr>
        </p:nvSpPr>
        <p:spPr>
          <a:xfrm>
            <a:off x="552450" y="944300"/>
            <a:ext cx="7899000" cy="3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b="1" lang="en" sz="1500"/>
              <a:t>Data:</a:t>
            </a:r>
            <a:r>
              <a:rPr lang="en" sz="1100"/>
              <a:t> (What are we studying?) (Where can I find data?)</a:t>
            </a:r>
            <a:endParaRPr sz="110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–"/>
            </a:pPr>
            <a:r>
              <a:rPr lang="en" sz="1500"/>
              <a:t>MSU Library</a:t>
            </a:r>
            <a:endParaRPr sz="1500"/>
          </a:p>
          <a:p>
            <a:pPr indent="-3238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Nexis Uni</a:t>
            </a:r>
            <a:endParaRPr sz="150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–"/>
            </a:pPr>
            <a:r>
              <a:rPr lang="en" sz="1500"/>
              <a:t>What to search?</a:t>
            </a:r>
            <a:endParaRPr sz="150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–"/>
            </a:pPr>
            <a:r>
              <a:rPr lang="en" sz="1500"/>
              <a:t>How to narrow your search?</a:t>
            </a:r>
            <a:endParaRPr sz="150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–"/>
            </a:pPr>
            <a:r>
              <a:rPr lang="en" sz="1500"/>
              <a:t>Evaluate your search results</a:t>
            </a:r>
            <a:endParaRPr sz="15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4"/>
          <p:cNvSpPr txBox="1"/>
          <p:nvPr>
            <p:ph type="title"/>
          </p:nvPr>
        </p:nvSpPr>
        <p:spPr>
          <a:xfrm>
            <a:off x="457200" y="154484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Week 7/Spring Break Assignment</a:t>
            </a:r>
            <a:endParaRPr sz="2800"/>
          </a:p>
        </p:txBody>
      </p:sp>
      <p:sp>
        <p:nvSpPr>
          <p:cNvPr id="113" name="Google Shape;113;p24"/>
          <p:cNvSpPr txBox="1"/>
          <p:nvPr>
            <p:ph idx="1" type="body"/>
          </p:nvPr>
        </p:nvSpPr>
        <p:spPr>
          <a:xfrm>
            <a:off x="457200" y="900125"/>
            <a:ext cx="8229600" cy="37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" sz="2000"/>
              <a:t>Data collection for our final project: Nexis Uni database</a:t>
            </a:r>
            <a:endParaRPr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Design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