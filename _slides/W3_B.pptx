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4"/>
    <p:sldMasterId id="2147483663"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5.xml"/><Relationship Id="rId10" Type="http://schemas.openxmlformats.org/officeDocument/2006/relationships/slide" Target="slides/slide4.xml"/><Relationship Id="rId12" Type="http://schemas.openxmlformats.org/officeDocument/2006/relationships/slide" Target="slides/slide6.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badbb0b52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g3badbb0b52c_0_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badbb0b52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3badbb0b52c_0_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bbafa4ad2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bbafa4ad2d_0_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f9fffb5d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bf9fffb5dc_0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c3dd2515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g3bc3dd25151_0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b9198a57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b9198a5775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980966" y="954060"/>
            <a:ext cx="7190700" cy="878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4"/>
          <p:cNvSpPr txBox="1"/>
          <p:nvPr>
            <p:ph idx="1" type="subTitle"/>
          </p:nvPr>
        </p:nvSpPr>
        <p:spPr>
          <a:xfrm>
            <a:off x="980966" y="2106338"/>
            <a:ext cx="7190700" cy="1314600"/>
          </a:xfrm>
          <a:prstGeom prst="rect">
            <a:avLst/>
          </a:prstGeom>
          <a:noFill/>
          <a:ln>
            <a:noFill/>
          </a:ln>
        </p:spPr>
        <p:txBody>
          <a:bodyPr anchorCtr="0" anchor="t" bIns="45700" lIns="91425" spcFirstLastPara="1" rIns="91425" wrap="square" tIns="45700">
            <a:noAutofit/>
          </a:bodyPr>
          <a:lstStyle>
            <a:lvl1pPr lvl="0" algn="l">
              <a:spcBef>
                <a:spcPts val="640"/>
              </a:spcBef>
              <a:spcAft>
                <a:spcPts val="0"/>
              </a:spcAft>
              <a:buClr>
                <a:srgbClr val="3F3F3F"/>
              </a:buClr>
              <a:buSzPts val="3200"/>
              <a:buNone/>
              <a:defRPr>
                <a:solidFill>
                  <a:srgbClr val="3F3F3F"/>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7" name="Shape 57"/>
        <p:cNvGrpSpPr/>
        <p:nvPr/>
      </p:nvGrpSpPr>
      <p:grpSpPr>
        <a:xfrm>
          <a:off x="0" y="0"/>
          <a:ext cx="0" cy="0"/>
          <a:chOff x="0" y="0"/>
          <a:chExt cx="0" cy="0"/>
        </a:xfrm>
      </p:grpSpPr>
      <p:sp>
        <p:nvSpPr>
          <p:cNvPr id="58" name="Google Shape;58;p1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5"/>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3F3F3F"/>
              </a:buClr>
              <a:buSzPts val="2800"/>
              <a:buChar char="•"/>
              <a:defRPr sz="2800">
                <a:solidFill>
                  <a:srgbClr val="3F3F3F"/>
                </a:solidFill>
              </a:defRPr>
            </a:lvl1pPr>
            <a:lvl2pPr indent="-381000" lvl="1" marL="914400" algn="l">
              <a:spcBef>
                <a:spcPts val="480"/>
              </a:spcBef>
              <a:spcAft>
                <a:spcPts val="0"/>
              </a:spcAft>
              <a:buClr>
                <a:srgbClr val="3F3F3F"/>
              </a:buClr>
              <a:buSzPts val="2400"/>
              <a:buChar char="–"/>
              <a:defRPr sz="2400">
                <a:solidFill>
                  <a:srgbClr val="3F3F3F"/>
                </a:solidFill>
              </a:defRPr>
            </a:lvl2pPr>
            <a:lvl3pPr indent="-355600" lvl="2" marL="1371600" algn="l">
              <a:spcBef>
                <a:spcPts val="400"/>
              </a:spcBef>
              <a:spcAft>
                <a:spcPts val="0"/>
              </a:spcAft>
              <a:buClr>
                <a:srgbClr val="3F3F3F"/>
              </a:buClr>
              <a:buSzPts val="2000"/>
              <a:buChar char="•"/>
              <a:defRPr sz="2000">
                <a:solidFill>
                  <a:srgbClr val="3F3F3F"/>
                </a:solidFill>
              </a:defRPr>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0" name="Google Shape;60;p15"/>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3F3F3F"/>
              </a:buClr>
              <a:buSzPts val="2800"/>
              <a:buChar char="•"/>
              <a:defRPr sz="2800">
                <a:solidFill>
                  <a:srgbClr val="3F3F3F"/>
                </a:solidFill>
              </a:defRPr>
            </a:lvl1pPr>
            <a:lvl2pPr indent="-381000" lvl="1" marL="914400" algn="l">
              <a:spcBef>
                <a:spcPts val="480"/>
              </a:spcBef>
              <a:spcAft>
                <a:spcPts val="0"/>
              </a:spcAft>
              <a:buClr>
                <a:srgbClr val="3F3F3F"/>
              </a:buClr>
              <a:buSzPts val="2400"/>
              <a:buChar char="–"/>
              <a:defRPr sz="2400">
                <a:solidFill>
                  <a:srgbClr val="3F3F3F"/>
                </a:solidFill>
              </a:defRPr>
            </a:lvl2pPr>
            <a:lvl3pPr indent="-355600" lvl="2" marL="1371600" algn="l">
              <a:spcBef>
                <a:spcPts val="400"/>
              </a:spcBef>
              <a:spcAft>
                <a:spcPts val="0"/>
              </a:spcAft>
              <a:buClr>
                <a:srgbClr val="3F3F3F"/>
              </a:buClr>
              <a:buSzPts val="2000"/>
              <a:buChar char="•"/>
              <a:defRPr sz="2000">
                <a:solidFill>
                  <a:srgbClr val="3F3F3F"/>
                </a:solidFill>
              </a:defRPr>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6"/>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6"/>
          <p:cNvSpPr/>
          <p:nvPr>
            <p:ph idx="2" type="pic"/>
          </p:nvPr>
        </p:nvSpPr>
        <p:spPr>
          <a:xfrm>
            <a:off x="1792288" y="459581"/>
            <a:ext cx="5486400" cy="3086100"/>
          </a:xfrm>
          <a:prstGeom prst="rect">
            <a:avLst/>
          </a:prstGeom>
          <a:noFill/>
          <a:ln>
            <a:noFill/>
          </a:ln>
        </p:spPr>
      </p:sp>
      <p:sp>
        <p:nvSpPr>
          <p:cNvPr id="64" name="Google Shape;64;p16"/>
          <p:cNvSpPr txBox="1"/>
          <p:nvPr>
            <p:ph idx="1" type="body"/>
          </p:nvPr>
        </p:nvSpPr>
        <p:spPr>
          <a:xfrm>
            <a:off x="1792288" y="4025504"/>
            <a:ext cx="5486400" cy="6036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3F3F3F"/>
              </a:buClr>
              <a:buSzPts val="1400"/>
              <a:buNone/>
              <a:defRPr sz="1400">
                <a:solidFill>
                  <a:srgbClr val="3F3F3F"/>
                </a:solidFill>
              </a:defRPr>
            </a:lvl1pPr>
            <a:lvl2pPr indent="-228600" lvl="1" marL="914400" algn="l">
              <a:spcBef>
                <a:spcPts val="240"/>
              </a:spcBef>
              <a:spcAft>
                <a:spcPts val="0"/>
              </a:spcAft>
              <a:buClr>
                <a:srgbClr val="3F3F3F"/>
              </a:buClr>
              <a:buSzPts val="1200"/>
              <a:buNone/>
              <a:defRPr sz="1200"/>
            </a:lvl2pPr>
            <a:lvl3pPr indent="-228600" lvl="2" marL="1371600" algn="l">
              <a:spcBef>
                <a:spcPts val="200"/>
              </a:spcBef>
              <a:spcAft>
                <a:spcPts val="0"/>
              </a:spcAft>
              <a:buClr>
                <a:srgbClr val="3F3F3F"/>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1" i="0" sz="4400" u="none" cap="none" strike="noStrike">
                <a:solidFill>
                  <a:srgbClr val="008183"/>
                </a:solidFill>
                <a:latin typeface="Arial"/>
                <a:ea typeface="Arial"/>
                <a:cs typeface="Arial"/>
                <a:sym typeface="Arial"/>
              </a:defRPr>
            </a:lvl1pPr>
            <a:lvl2pPr lvl="1" marR="0" algn="l">
              <a:spcBef>
                <a:spcPts val="0"/>
              </a:spcBef>
              <a:spcAft>
                <a:spcPts val="0"/>
              </a:spcAft>
              <a:buSzPts val="1400"/>
              <a:buNone/>
              <a:defRPr b="1" i="0" sz="4400" u="none" cap="none" strike="noStrike">
                <a:solidFill>
                  <a:srgbClr val="6BBD1B"/>
                </a:solidFill>
                <a:latin typeface="Arial"/>
                <a:ea typeface="Arial"/>
                <a:cs typeface="Arial"/>
                <a:sym typeface="Arial"/>
              </a:defRPr>
            </a:lvl2pPr>
            <a:lvl3pPr lvl="2" marR="0" algn="l">
              <a:spcBef>
                <a:spcPts val="0"/>
              </a:spcBef>
              <a:spcAft>
                <a:spcPts val="0"/>
              </a:spcAft>
              <a:buSzPts val="1400"/>
              <a:buNone/>
              <a:defRPr b="1" i="0" sz="4400" u="none" cap="none" strike="noStrike">
                <a:solidFill>
                  <a:srgbClr val="6BBD1B"/>
                </a:solidFill>
                <a:latin typeface="Arial"/>
                <a:ea typeface="Arial"/>
                <a:cs typeface="Arial"/>
                <a:sym typeface="Arial"/>
              </a:defRPr>
            </a:lvl3pPr>
            <a:lvl4pPr lvl="3" marR="0" algn="l">
              <a:spcBef>
                <a:spcPts val="0"/>
              </a:spcBef>
              <a:spcAft>
                <a:spcPts val="0"/>
              </a:spcAft>
              <a:buSzPts val="1400"/>
              <a:buNone/>
              <a:defRPr b="1" i="0" sz="4400" u="none" cap="none" strike="noStrike">
                <a:solidFill>
                  <a:srgbClr val="6BBD1B"/>
                </a:solidFill>
                <a:latin typeface="Arial"/>
                <a:ea typeface="Arial"/>
                <a:cs typeface="Arial"/>
                <a:sym typeface="Arial"/>
              </a:defRPr>
            </a:lvl4pPr>
            <a:lvl5pPr lvl="4" marR="0" algn="l">
              <a:spcBef>
                <a:spcPts val="0"/>
              </a:spcBef>
              <a:spcAft>
                <a:spcPts val="0"/>
              </a:spcAft>
              <a:buSzPts val="1400"/>
              <a:buNone/>
              <a:defRPr b="1" i="0" sz="4400" u="none" cap="none" strike="noStrike">
                <a:solidFill>
                  <a:srgbClr val="6BBD1B"/>
                </a:solidFill>
                <a:latin typeface="Arial"/>
                <a:ea typeface="Arial"/>
                <a:cs typeface="Arial"/>
                <a:sym typeface="Arial"/>
              </a:defRPr>
            </a:lvl5pPr>
            <a:lvl6pPr lvl="5" marR="0" algn="l">
              <a:spcBef>
                <a:spcPts val="0"/>
              </a:spcBef>
              <a:spcAft>
                <a:spcPts val="0"/>
              </a:spcAft>
              <a:buSzPts val="1400"/>
              <a:buNone/>
              <a:defRPr b="1" i="0" sz="4400" u="none" cap="none" strike="noStrike">
                <a:solidFill>
                  <a:srgbClr val="6BBD1B"/>
                </a:solidFill>
                <a:latin typeface="Arial"/>
                <a:ea typeface="Arial"/>
                <a:cs typeface="Arial"/>
                <a:sym typeface="Arial"/>
              </a:defRPr>
            </a:lvl6pPr>
            <a:lvl7pPr lvl="6" marR="0" algn="l">
              <a:spcBef>
                <a:spcPts val="0"/>
              </a:spcBef>
              <a:spcAft>
                <a:spcPts val="0"/>
              </a:spcAft>
              <a:buSzPts val="1400"/>
              <a:buNone/>
              <a:defRPr b="1" i="0" sz="4400" u="none" cap="none" strike="noStrike">
                <a:solidFill>
                  <a:srgbClr val="6BBD1B"/>
                </a:solidFill>
                <a:latin typeface="Arial"/>
                <a:ea typeface="Arial"/>
                <a:cs typeface="Arial"/>
                <a:sym typeface="Arial"/>
              </a:defRPr>
            </a:lvl7pPr>
            <a:lvl8pPr lvl="7" marR="0" algn="l">
              <a:spcBef>
                <a:spcPts val="0"/>
              </a:spcBef>
              <a:spcAft>
                <a:spcPts val="0"/>
              </a:spcAft>
              <a:buSzPts val="1400"/>
              <a:buNone/>
              <a:defRPr b="1" i="0" sz="4400" u="none" cap="none" strike="noStrike">
                <a:solidFill>
                  <a:srgbClr val="6BBD1B"/>
                </a:solidFill>
                <a:latin typeface="Arial"/>
                <a:ea typeface="Arial"/>
                <a:cs typeface="Arial"/>
                <a:sym typeface="Arial"/>
              </a:defRPr>
            </a:lvl8pPr>
            <a:lvl9pPr lvl="8" marR="0" algn="l">
              <a:spcBef>
                <a:spcPts val="0"/>
              </a:spcBef>
              <a:spcAft>
                <a:spcPts val="0"/>
              </a:spcAft>
              <a:buSzPts val="1400"/>
              <a:buNone/>
              <a:defRPr b="1" i="0" sz="4400" u="none" cap="none" strike="noStrike">
                <a:solidFill>
                  <a:srgbClr val="6BBD1B"/>
                </a:solidFill>
                <a:latin typeface="Arial"/>
                <a:ea typeface="Arial"/>
                <a:cs typeface="Arial"/>
                <a:sym typeface="Arial"/>
              </a:defRPr>
            </a:lvl9pPr>
          </a:lstStyle>
          <a:p/>
        </p:txBody>
      </p:sp>
      <p:sp>
        <p:nvSpPr>
          <p:cNvPr id="52" name="Google Shape;52;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431800" lvl="0" marL="457200" marR="0" algn="l">
              <a:spcBef>
                <a:spcPts val="640"/>
              </a:spcBef>
              <a:spcAft>
                <a:spcPts val="0"/>
              </a:spcAft>
              <a:buClr>
                <a:srgbClr val="3F3F3F"/>
              </a:buClr>
              <a:buSzPts val="3200"/>
              <a:buFont typeface="Arial"/>
              <a:buChar char="•"/>
              <a:defRPr b="0" i="0" sz="3200" u="none" cap="none" strike="noStrike">
                <a:solidFill>
                  <a:srgbClr val="3F3F3F"/>
                </a:solidFill>
                <a:latin typeface="Arial"/>
                <a:ea typeface="Arial"/>
                <a:cs typeface="Arial"/>
                <a:sym typeface="Arial"/>
              </a:defRPr>
            </a:lvl1pPr>
            <a:lvl2pPr indent="-406400" lvl="1" marL="914400" marR="0" algn="l">
              <a:spcBef>
                <a:spcPts val="560"/>
              </a:spcBef>
              <a:spcAft>
                <a:spcPts val="0"/>
              </a:spcAft>
              <a:buClr>
                <a:srgbClr val="3F3F3F"/>
              </a:buClr>
              <a:buSzPts val="2800"/>
              <a:buFont typeface="Arial"/>
              <a:buChar char="–"/>
              <a:defRPr b="0" i="0" sz="2800" u="none" cap="none" strike="noStrike">
                <a:solidFill>
                  <a:srgbClr val="3F3F3F"/>
                </a:solidFill>
                <a:latin typeface="Arial"/>
                <a:ea typeface="Arial"/>
                <a:cs typeface="Arial"/>
                <a:sym typeface="Arial"/>
              </a:defRPr>
            </a:lvl2pPr>
            <a:lvl3pPr indent="-381000" lvl="2" marL="1371600" marR="0" algn="l">
              <a:spcBef>
                <a:spcPts val="48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descr="Michigan State University logo" id="53" name="Google Shape;53;p13"/>
          <p:cNvPicPr preferRelativeResize="0"/>
          <p:nvPr/>
        </p:nvPicPr>
        <p:blipFill rotWithShape="1">
          <a:blip r:embed="rId1">
            <a:alphaModFix/>
          </a:blip>
          <a:srcRect b="0" l="0" r="0" t="0"/>
          <a:stretch/>
        </p:blipFill>
        <p:spPr>
          <a:xfrm>
            <a:off x="3643313" y="4908517"/>
            <a:ext cx="1394217" cy="1176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urca.msu.edu/orals" TargetMode="External"/><Relationship Id="rId4" Type="http://schemas.openxmlformats.org/officeDocument/2006/relationships/hyperlink" Target="https://urca.msu.edu/posters" TargetMode="External"/><Relationship Id="rId5" Type="http://schemas.openxmlformats.org/officeDocument/2006/relationships/hyperlink" Target="https://urca.msu.edu/poster-samples" TargetMode="External"/><Relationship Id="rId6" Type="http://schemas.openxmlformats.org/officeDocument/2006/relationships/hyperlink" Target="https://urca.msu.edu/abstract-sample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7"/>
          <p:cNvSpPr txBox="1"/>
          <p:nvPr>
            <p:ph type="ctrTitle"/>
          </p:nvPr>
        </p:nvSpPr>
        <p:spPr>
          <a:xfrm>
            <a:off x="980966" y="954060"/>
            <a:ext cx="7190700" cy="878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Week 3 Session A</a:t>
            </a:r>
            <a:endParaRPr/>
          </a:p>
        </p:txBody>
      </p:sp>
      <p:sp>
        <p:nvSpPr>
          <p:cNvPr id="70" name="Google Shape;70;p17"/>
          <p:cNvSpPr txBox="1"/>
          <p:nvPr>
            <p:ph idx="1" type="subTitle"/>
          </p:nvPr>
        </p:nvSpPr>
        <p:spPr>
          <a:xfrm>
            <a:off x="980966" y="2106338"/>
            <a:ext cx="7190700" cy="1314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3F3F3F"/>
              </a:buClr>
              <a:buSzPts val="3200"/>
              <a:buNone/>
            </a:pPr>
            <a:r>
              <a:rPr lang="en" sz="3000"/>
              <a:t>Thursday, Jan 29 2026</a:t>
            </a:r>
            <a:endParaRPr sz="3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8"/>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Overview</a:t>
            </a:r>
            <a:endParaRPr/>
          </a:p>
        </p:txBody>
      </p:sp>
      <p:sp>
        <p:nvSpPr>
          <p:cNvPr id="76" name="Google Shape;76;p18"/>
          <p:cNvSpPr txBox="1"/>
          <p:nvPr>
            <p:ph idx="1" type="body"/>
          </p:nvPr>
        </p:nvSpPr>
        <p:spPr>
          <a:xfrm>
            <a:off x="457200" y="900125"/>
            <a:ext cx="6967800" cy="3534600"/>
          </a:xfrm>
          <a:prstGeom prst="rect">
            <a:avLst/>
          </a:prstGeom>
          <a:noFill/>
          <a:ln>
            <a:noFill/>
          </a:ln>
        </p:spPr>
        <p:txBody>
          <a:bodyPr anchorCtr="0" anchor="t" bIns="45700" lIns="91425" spcFirstLastPara="1" rIns="91425" wrap="square" tIns="45700">
            <a:noAutofit/>
          </a:bodyPr>
          <a:lstStyle/>
          <a:p>
            <a:pPr indent="-387350" lvl="0" marL="457200" rtl="0" algn="l">
              <a:spcBef>
                <a:spcPts val="0"/>
              </a:spcBef>
              <a:spcAft>
                <a:spcPts val="0"/>
              </a:spcAft>
              <a:buSzPts val="2500"/>
              <a:buChar char="•"/>
            </a:pPr>
            <a:r>
              <a:rPr lang="en" sz="2500"/>
              <a:t>Workshop</a:t>
            </a:r>
            <a:r>
              <a:rPr lang="en" sz="2500"/>
              <a:t>:</a:t>
            </a:r>
            <a:endParaRPr sz="2500"/>
          </a:p>
          <a:p>
            <a:pPr indent="-387350" lvl="1" marL="914400" rtl="0" algn="l">
              <a:spcBef>
                <a:spcPts val="0"/>
              </a:spcBef>
              <a:spcAft>
                <a:spcPts val="0"/>
              </a:spcAft>
              <a:buSzPts val="2500"/>
              <a:buChar char="–"/>
            </a:pPr>
            <a:r>
              <a:rPr lang="en" sz="2500"/>
              <a:t>Conferences and Academic Writing</a:t>
            </a:r>
            <a:endParaRPr sz="2500"/>
          </a:p>
          <a:p>
            <a:pPr indent="-387350" lvl="0" marL="457200" rtl="0" algn="l">
              <a:spcBef>
                <a:spcPts val="0"/>
              </a:spcBef>
              <a:spcAft>
                <a:spcPts val="0"/>
              </a:spcAft>
              <a:buSzPts val="2500"/>
              <a:buChar char="•"/>
            </a:pPr>
            <a:r>
              <a:rPr lang="en" sz="2500"/>
              <a:t>Update of </a:t>
            </a:r>
            <a:r>
              <a:rPr lang="en" sz="2500"/>
              <a:t>Week 3 Assignment</a:t>
            </a:r>
            <a:endParaRPr sz="2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9"/>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3300"/>
              <a:t>Workshop</a:t>
            </a:r>
            <a:endParaRPr sz="3300"/>
          </a:p>
        </p:txBody>
      </p:sp>
      <p:pic>
        <p:nvPicPr>
          <p:cNvPr id="82" name="Google Shape;82;p19"/>
          <p:cNvPicPr preferRelativeResize="0"/>
          <p:nvPr/>
        </p:nvPicPr>
        <p:blipFill>
          <a:blip r:embed="rId3">
            <a:alphaModFix/>
          </a:blip>
          <a:stretch>
            <a:fillRect/>
          </a:stretch>
        </p:blipFill>
        <p:spPr>
          <a:xfrm>
            <a:off x="1285875" y="1073901"/>
            <a:ext cx="2562225" cy="3416300"/>
          </a:xfrm>
          <a:prstGeom prst="rect">
            <a:avLst/>
          </a:prstGeom>
          <a:noFill/>
          <a:ln>
            <a:noFill/>
          </a:ln>
        </p:spPr>
      </p:pic>
      <p:pic>
        <p:nvPicPr>
          <p:cNvPr id="83" name="Google Shape;83;p19"/>
          <p:cNvPicPr preferRelativeResize="0"/>
          <p:nvPr/>
        </p:nvPicPr>
        <p:blipFill>
          <a:blip r:embed="rId4">
            <a:alphaModFix/>
          </a:blip>
          <a:stretch>
            <a:fillRect/>
          </a:stretch>
        </p:blipFill>
        <p:spPr>
          <a:xfrm>
            <a:off x="4695825" y="1710496"/>
            <a:ext cx="2143125" cy="2143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0"/>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3600"/>
              <a:t>Workshop</a:t>
            </a:r>
            <a:endParaRPr sz="3600"/>
          </a:p>
        </p:txBody>
      </p:sp>
      <p:sp>
        <p:nvSpPr>
          <p:cNvPr id="89" name="Google Shape;89;p20"/>
          <p:cNvSpPr txBox="1"/>
          <p:nvPr>
            <p:ph idx="1" type="body"/>
          </p:nvPr>
        </p:nvSpPr>
        <p:spPr>
          <a:xfrm>
            <a:off x="457200" y="900125"/>
            <a:ext cx="8229600" cy="32148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0"/>
              </a:spcBef>
              <a:spcAft>
                <a:spcPts val="0"/>
              </a:spcAft>
              <a:buSzPts val="2200"/>
              <a:buChar char="•"/>
            </a:pPr>
            <a:r>
              <a:rPr lang="en" sz="2200"/>
              <a:t>UURAF!</a:t>
            </a:r>
            <a:endParaRPr sz="2200"/>
          </a:p>
          <a:p>
            <a:pPr indent="0" lvl="0" marL="457200" rtl="0" algn="l">
              <a:lnSpc>
                <a:spcPct val="115000"/>
              </a:lnSpc>
              <a:spcBef>
                <a:spcPts val="0"/>
              </a:spcBef>
              <a:spcAft>
                <a:spcPts val="0"/>
              </a:spcAft>
              <a:buNone/>
            </a:pPr>
            <a:r>
              <a:rPr lang="en" sz="1600"/>
              <a:t>UURAF (pronounced: you-raff) provides Michigan State undergraduate students with an opportunity to showcase their scholarship and creative activity. Held each spring, UURAF brings together an intellectual community of undergraduate students to share their work with faculty, staff, peers, and external audiences.  Participants will gain experience in presenting their research, answer questions about their work from audience members and guests, and receive constructive feedback from judges.</a:t>
            </a:r>
            <a:endParaRPr sz="1600"/>
          </a:p>
          <a:p>
            <a:pPr indent="0" lvl="0" marL="457200" rtl="0" algn="l">
              <a:lnSpc>
                <a:spcPct val="115000"/>
              </a:lnSpc>
              <a:spcBef>
                <a:spcPts val="0"/>
              </a:spcBef>
              <a:spcAft>
                <a:spcPts val="0"/>
              </a:spcAft>
              <a:buNone/>
            </a:pPr>
            <a:r>
              <a:t/>
            </a:r>
            <a:endParaRPr sz="1600"/>
          </a:p>
          <a:p>
            <a:pPr indent="0" lvl="0" marL="457200" rtl="0" algn="l">
              <a:lnSpc>
                <a:spcPct val="115000"/>
              </a:lnSpc>
              <a:spcBef>
                <a:spcPts val="0"/>
              </a:spcBef>
              <a:spcAft>
                <a:spcPts val="0"/>
              </a:spcAft>
              <a:buNone/>
            </a:pPr>
            <a:r>
              <a:rPr lang="en" sz="1600"/>
              <a:t>April 17 at the Breslin Center and Online</a:t>
            </a:r>
            <a:endParaRPr sz="1600"/>
          </a:p>
          <a:p>
            <a:pPr indent="0" lvl="0" marL="457200" rtl="0" algn="l">
              <a:lnSpc>
                <a:spcPct val="115000"/>
              </a:lnSpc>
              <a:spcBef>
                <a:spcPts val="0"/>
              </a:spcBef>
              <a:spcAft>
                <a:spcPts val="0"/>
              </a:spcAft>
              <a:buNone/>
            </a:pPr>
            <a:r>
              <a:rPr lang="en" sz="1600"/>
              <a:t>Application due Feb 12, 11:59PM</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1"/>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3600"/>
              <a:t>Workshop</a:t>
            </a:r>
            <a:endParaRPr sz="3600"/>
          </a:p>
        </p:txBody>
      </p:sp>
      <p:sp>
        <p:nvSpPr>
          <p:cNvPr id="95" name="Google Shape;95;p21"/>
          <p:cNvSpPr txBox="1"/>
          <p:nvPr>
            <p:ph idx="1" type="body"/>
          </p:nvPr>
        </p:nvSpPr>
        <p:spPr>
          <a:xfrm>
            <a:off x="457200" y="900125"/>
            <a:ext cx="8229600" cy="32148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0"/>
              </a:spcBef>
              <a:spcAft>
                <a:spcPts val="0"/>
              </a:spcAft>
              <a:buSzPts val="2200"/>
              <a:buChar char="•"/>
            </a:pPr>
            <a:r>
              <a:rPr lang="en" sz="2200"/>
              <a:t>UURAF!</a:t>
            </a:r>
            <a:endParaRPr sz="2200"/>
          </a:p>
          <a:p>
            <a:pPr indent="-330200" lvl="0" marL="457200" rtl="0" algn="l">
              <a:lnSpc>
                <a:spcPct val="115000"/>
              </a:lnSpc>
              <a:spcBef>
                <a:spcPts val="0"/>
              </a:spcBef>
              <a:spcAft>
                <a:spcPts val="0"/>
              </a:spcAft>
              <a:buSzPts val="1600"/>
              <a:buChar char="-"/>
            </a:pPr>
            <a:r>
              <a:rPr lang="en" sz="1600"/>
              <a:t>Presentation style: </a:t>
            </a:r>
            <a:r>
              <a:rPr lang="en" sz="1600" u="sng">
                <a:solidFill>
                  <a:schemeClr val="hlink"/>
                </a:solidFill>
                <a:hlinkClick r:id="rId3"/>
              </a:rPr>
              <a:t>oral presentation</a:t>
            </a:r>
            <a:r>
              <a:rPr lang="en" sz="1600"/>
              <a:t>; </a:t>
            </a:r>
            <a:r>
              <a:rPr lang="en" sz="1600" u="sng">
                <a:solidFill>
                  <a:schemeClr val="hlink"/>
                </a:solidFill>
                <a:hlinkClick r:id="rId4"/>
              </a:rPr>
              <a:t>poster</a:t>
            </a:r>
            <a:endParaRPr sz="1600"/>
          </a:p>
          <a:p>
            <a:pPr indent="-330200" lvl="1" marL="1371600" rtl="0" algn="l">
              <a:lnSpc>
                <a:spcPct val="115000"/>
              </a:lnSpc>
              <a:spcBef>
                <a:spcPts val="0"/>
              </a:spcBef>
              <a:spcAft>
                <a:spcPts val="0"/>
              </a:spcAft>
              <a:buSzPts val="1600"/>
              <a:buChar char="-"/>
            </a:pPr>
            <a:r>
              <a:rPr lang="en" sz="1600" u="sng">
                <a:solidFill>
                  <a:schemeClr val="hlink"/>
                </a:solidFill>
                <a:hlinkClick r:id="rId5"/>
              </a:rPr>
              <a:t>Examples</a:t>
            </a:r>
            <a:endParaRPr sz="1600"/>
          </a:p>
          <a:p>
            <a:pPr indent="-330200" lvl="0" marL="457200" rtl="0" algn="l">
              <a:lnSpc>
                <a:spcPct val="115000"/>
              </a:lnSpc>
              <a:spcBef>
                <a:spcPts val="0"/>
              </a:spcBef>
              <a:spcAft>
                <a:spcPts val="0"/>
              </a:spcAft>
              <a:buSzPts val="1600"/>
              <a:buChar char="-"/>
            </a:pPr>
            <a:r>
              <a:rPr lang="en" sz="1600"/>
              <a:t>How to write a conference proposal?</a:t>
            </a:r>
            <a:endParaRPr sz="1600"/>
          </a:p>
          <a:p>
            <a:pPr indent="-330200" lvl="1" marL="1371600" rtl="0" algn="l">
              <a:lnSpc>
                <a:spcPct val="115000"/>
              </a:lnSpc>
              <a:spcBef>
                <a:spcPts val="0"/>
              </a:spcBef>
              <a:spcAft>
                <a:spcPts val="0"/>
              </a:spcAft>
              <a:buSzPts val="1600"/>
              <a:buChar char="-"/>
            </a:pPr>
            <a:r>
              <a:rPr lang="en" sz="1600" u="sng">
                <a:solidFill>
                  <a:schemeClr val="hlink"/>
                </a:solidFill>
                <a:hlinkClick r:id="rId6"/>
              </a:rPr>
              <a:t>Examples</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2"/>
          <p:cNvSpPr txBox="1"/>
          <p:nvPr>
            <p:ph type="title"/>
          </p:nvPr>
        </p:nvSpPr>
        <p:spPr>
          <a:xfrm>
            <a:off x="457200" y="154484"/>
            <a:ext cx="8229600" cy="643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Week 3 Assignment</a:t>
            </a:r>
            <a:endParaRPr/>
          </a:p>
        </p:txBody>
      </p:sp>
      <p:sp>
        <p:nvSpPr>
          <p:cNvPr id="101" name="Google Shape;101;p22"/>
          <p:cNvSpPr txBox="1"/>
          <p:nvPr>
            <p:ph idx="1" type="body"/>
          </p:nvPr>
        </p:nvSpPr>
        <p:spPr>
          <a:xfrm>
            <a:off x="457200" y="900125"/>
            <a:ext cx="8229600" cy="37641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en" sz="2000" strike="sngStrike"/>
              <a:t>Select a language model on LMStudio, explain why you picked this one (short rationale + screenshot).</a:t>
            </a:r>
            <a:endParaRPr sz="2000"/>
          </a:p>
          <a:p>
            <a:pPr indent="-355600" lvl="0" marL="457200" rtl="0" algn="l">
              <a:lnSpc>
                <a:spcPct val="115000"/>
              </a:lnSpc>
              <a:spcBef>
                <a:spcPts val="0"/>
              </a:spcBef>
              <a:spcAft>
                <a:spcPts val="0"/>
              </a:spcAft>
              <a:buSzPts val="2000"/>
              <a:buChar char="•"/>
            </a:pPr>
            <a:r>
              <a:rPr lang="en" sz="2000"/>
              <a:t>Draft a conference proposal for UURAF based on your project, and I will provide detailed </a:t>
            </a:r>
            <a:r>
              <a:rPr lang="en" sz="2000"/>
              <a:t>feedback.</a:t>
            </a:r>
            <a:endParaRPr sz="2000"/>
          </a:p>
          <a:p>
            <a:pPr indent="0" lvl="0" marL="0" rtl="0" algn="l">
              <a:lnSpc>
                <a:spcPct val="115000"/>
              </a:lnSpc>
              <a:spcBef>
                <a:spcPts val="0"/>
              </a:spcBef>
              <a:spcAft>
                <a:spcPts val="0"/>
              </a:spcAft>
              <a:buNone/>
            </a:pPr>
            <a:r>
              <a:t/>
            </a:r>
            <a:endParaRPr sz="2000"/>
          </a:p>
          <a:p>
            <a:pPr indent="0" lvl="0" marL="0" rtl="0" algn="l">
              <a:spcBef>
                <a:spcPts val="0"/>
              </a:spcBef>
              <a:spcAft>
                <a:spcPts val="0"/>
              </a:spcAft>
              <a:buNone/>
            </a:pPr>
            <a:r>
              <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