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2" r:id="rId4"/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adbb0b52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badbb0b52c_0_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adbb0b52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badbb0b52c_0_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bafa4ad2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bbafa4ad2d_0_2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ce04ccc1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bce04ccc1d_0_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ce04ccc1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bce04ccc1d_0_1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f9fffb5d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bf9fffb5dc_0_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ce04ccc1d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bce04ccc1d_0_5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ce04ccc1d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bce04ccc1d_0_7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ce04ccc1d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bce04ccc1d_0_7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ce04ccc1d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bce04ccc1d_0_4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ce04ccc1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bce04ccc1d_0_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ce04ccc1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bce04ccc1d_0_4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9198a57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b9198a5775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980966" y="954060"/>
            <a:ext cx="7190700" cy="8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980966" y="2106338"/>
            <a:ext cx="71907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  <a:defRPr>
                <a:solidFill>
                  <a:srgbClr val="3F3F3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3F3F3F"/>
              </a:buClr>
              <a:buSzPts val="2800"/>
              <a:buChar char="•"/>
              <a:defRPr sz="2800">
                <a:solidFill>
                  <a:srgbClr val="3F3F3F"/>
                </a:solidFill>
              </a:defRPr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Char char="–"/>
              <a:defRPr sz="2400">
                <a:solidFill>
                  <a:srgbClr val="3F3F3F"/>
                </a:solidFill>
              </a:defRPr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0" name="Google Shape;60;p15"/>
          <p:cNvSpPr txBox="1"/>
          <p:nvPr>
            <p:ph idx="2" type="body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3F3F3F"/>
              </a:buClr>
              <a:buSzPts val="2800"/>
              <a:buChar char="•"/>
              <a:defRPr sz="2800">
                <a:solidFill>
                  <a:srgbClr val="3F3F3F"/>
                </a:solidFill>
              </a:defRPr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Char char="–"/>
              <a:defRPr sz="2400">
                <a:solidFill>
                  <a:srgbClr val="3F3F3F"/>
                </a:solidFill>
              </a:defRPr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792288" y="402550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0818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Michigan State University logo" id="53" name="Google Shape;53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643313" y="4908517"/>
            <a:ext cx="1394217" cy="11769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museum.msu.edu/events/ai-and-the-body-in-the-age-of-noise/" TargetMode="External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cs.google.com/forms/d/e/1FAIpQLScRl_AAHkhKES0mgXJTt0Tf3W3tNQ12efT_hvSGaiFw_92BQA/viewform" TargetMode="External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ondemand.hpcc.msu.edu/pun/sys/dashboard" TargetMode="External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cs.icer.msu.edu/OnDemand_LMStudio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app.mystory.msu.edu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ctrTitle"/>
          </p:nvPr>
        </p:nvSpPr>
        <p:spPr>
          <a:xfrm>
            <a:off x="980966" y="954060"/>
            <a:ext cx="7190700" cy="8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4 Session A</a:t>
            </a:r>
            <a:endParaRPr/>
          </a:p>
        </p:txBody>
      </p:sp>
      <p:sp>
        <p:nvSpPr>
          <p:cNvPr id="70" name="Google Shape;70;p17"/>
          <p:cNvSpPr txBox="1"/>
          <p:nvPr>
            <p:ph idx="1" type="subTitle"/>
          </p:nvPr>
        </p:nvSpPr>
        <p:spPr>
          <a:xfrm>
            <a:off x="980966" y="2106338"/>
            <a:ext cx="71907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</a:pPr>
            <a:r>
              <a:rPr lang="en" sz="3000"/>
              <a:t>Tuesday, Feb 3 2026</a:t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>
            <a:off x="457200" y="900125"/>
            <a:ext cx="6967800" cy="3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/>
              <a:t>Logistics: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en" sz="2200"/>
              <a:t>Plans for Week 5 and Week 6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en" sz="2200"/>
              <a:t>End of Year Celebration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/>
              <a:t>Workshop</a:t>
            </a:r>
            <a:r>
              <a:rPr lang="en" sz="2200"/>
              <a:t>: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en" sz="2200"/>
              <a:t>Setting Up with HPCC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en" sz="2200"/>
              <a:t>Registration for UURAF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en" sz="2200"/>
              <a:t>Feedback on UURAF Abstract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/>
              <a:t>Week 4 Assignment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Week 5’s Plan</a:t>
            </a:r>
            <a:endParaRPr sz="3300"/>
          </a:p>
        </p:txBody>
      </p:sp>
      <p:sp>
        <p:nvSpPr>
          <p:cNvPr id="82" name="Google Shape;82;p19"/>
          <p:cNvSpPr txBox="1"/>
          <p:nvPr>
            <p:ph idx="1" type="body"/>
          </p:nvPr>
        </p:nvSpPr>
        <p:spPr>
          <a:xfrm>
            <a:off x="457200" y="900125"/>
            <a:ext cx="8229600" cy="3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Tuesday, 2/10 </a:t>
            </a:r>
            <a:r>
              <a:rPr i="1" lang="en" sz="1800"/>
              <a:t>Data Center Field Trip Day!</a:t>
            </a:r>
            <a:endParaRPr i="1"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Location: west campus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4PM - 5PM, we need to arrive 10 minutes early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Thursday, 2/12</a:t>
            </a:r>
            <a:r>
              <a:rPr i="1" lang="en" sz="1800"/>
              <a:t> Back to </a:t>
            </a:r>
            <a:r>
              <a:rPr b="1" i="1" lang="en" sz="1800"/>
              <a:t>Normal Class</a:t>
            </a:r>
            <a:r>
              <a:rPr i="1" lang="en" sz="1800"/>
              <a:t> Day!</a:t>
            </a:r>
            <a:endParaRPr i="1"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Location: DSL (in the library)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4:10PM - 5:20PM</a:t>
            </a:r>
            <a:endParaRPr sz="1800"/>
          </a:p>
        </p:txBody>
      </p:sp>
      <p:pic>
        <p:nvPicPr>
          <p:cNvPr id="83" name="Google Shape;8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9375" y="0"/>
            <a:ext cx="2076450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5950" y="2300402"/>
            <a:ext cx="3146900" cy="237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Week 6’s Plan</a:t>
            </a:r>
            <a:endParaRPr sz="3300"/>
          </a:p>
        </p:txBody>
      </p:sp>
      <p:sp>
        <p:nvSpPr>
          <p:cNvPr id="90" name="Google Shape;90;p20"/>
          <p:cNvSpPr txBox="1"/>
          <p:nvPr>
            <p:ph idx="1" type="body"/>
          </p:nvPr>
        </p:nvSpPr>
        <p:spPr>
          <a:xfrm>
            <a:off x="457200" y="900125"/>
            <a:ext cx="8229600" cy="3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 strike="sngStrike"/>
              <a:t>Tuesday, 2/17 </a:t>
            </a:r>
            <a:r>
              <a:rPr i="1" lang="en" sz="1800" strike="sngStrike"/>
              <a:t>NO CLASS!</a:t>
            </a:r>
            <a:endParaRPr i="1" sz="1800" strike="sngStrike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Please visit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this event</a:t>
            </a:r>
            <a:r>
              <a:rPr lang="en" sz="1800"/>
              <a:t> “AI and the Body in the Age of Noise” on </a:t>
            </a:r>
            <a:r>
              <a:rPr b="1" lang="en" sz="1800"/>
              <a:t>2/12</a:t>
            </a:r>
            <a:r>
              <a:rPr lang="en" sz="1800"/>
              <a:t>,</a:t>
            </a:r>
            <a:endParaRPr sz="1800"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7 - 8:30PM (Registration required)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Thursday, 2/19</a:t>
            </a:r>
            <a:r>
              <a:rPr i="1" lang="en" sz="1800"/>
              <a:t> Back to </a:t>
            </a:r>
            <a:r>
              <a:rPr b="1" i="1" lang="en" sz="1800"/>
              <a:t>Normal Class</a:t>
            </a:r>
            <a:r>
              <a:rPr i="1" lang="en" sz="1800"/>
              <a:t> Day!</a:t>
            </a:r>
            <a:endParaRPr i="1"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Location: DSL (in the library)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4:10PM - 5:20PM</a:t>
            </a:r>
            <a:endParaRPr sz="1800"/>
          </a:p>
        </p:txBody>
      </p:sp>
      <p:pic>
        <p:nvPicPr>
          <p:cNvPr id="91" name="Google Shape;9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2050" y="2333625"/>
            <a:ext cx="4071938" cy="271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Digital Humanities End of Year Celebration</a:t>
            </a:r>
            <a:endParaRPr sz="2800"/>
          </a:p>
        </p:txBody>
      </p:sp>
      <p:sp>
        <p:nvSpPr>
          <p:cNvPr id="97" name="Google Shape;97;p21"/>
          <p:cNvSpPr txBox="1"/>
          <p:nvPr>
            <p:ph idx="1" type="body"/>
          </p:nvPr>
        </p:nvSpPr>
        <p:spPr>
          <a:xfrm>
            <a:off x="457200" y="900125"/>
            <a:ext cx="8229600" cy="3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Week 14 </a:t>
            </a:r>
            <a:r>
              <a:rPr lang="en" sz="1800"/>
              <a:t>Thursday, </a:t>
            </a:r>
            <a:r>
              <a:rPr lang="en" sz="1800"/>
              <a:t>4/23 </a:t>
            </a:r>
            <a:r>
              <a:rPr i="1" lang="en" sz="1800"/>
              <a:t>End of Year Celebration!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Location: LEADR (Old Horticultural Building, Rm 112; 506 E. Circle Drive)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3PM - 5PM (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Registration</a:t>
            </a:r>
            <a:r>
              <a:rPr lang="en" sz="1800"/>
              <a:t> required)</a:t>
            </a:r>
            <a:endParaRPr sz="1800"/>
          </a:p>
        </p:txBody>
      </p:sp>
      <p:pic>
        <p:nvPicPr>
          <p:cNvPr id="98" name="Google Shape;9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8275" y="2231225"/>
            <a:ext cx="3790950" cy="2843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Workshop - Part I</a:t>
            </a:r>
            <a:endParaRPr sz="3600"/>
          </a:p>
        </p:txBody>
      </p:sp>
      <p:sp>
        <p:nvSpPr>
          <p:cNvPr id="104" name="Google Shape;104;p22"/>
          <p:cNvSpPr txBox="1"/>
          <p:nvPr>
            <p:ph idx="1" type="body"/>
          </p:nvPr>
        </p:nvSpPr>
        <p:spPr>
          <a:xfrm>
            <a:off x="457200" y="900125"/>
            <a:ext cx="8229600" cy="3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/>
              <a:t>Setting up with HPCC</a:t>
            </a:r>
            <a:endParaRPr sz="22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Login here: </a:t>
            </a:r>
            <a:r>
              <a:rPr lang="en" sz="1600" u="sng">
                <a:solidFill>
                  <a:schemeClr val="hlink"/>
                </a:solidFill>
                <a:hlinkClick r:id="rId3"/>
              </a:rPr>
              <a:t>ondemand.hpcc.msu.edu/pun/sys/dashboard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Select “Interactive Apps” tab, and click “LM Studio”</a:t>
            </a:r>
            <a:endParaRPr sz="1600"/>
          </a:p>
        </p:txBody>
      </p:sp>
      <p:pic>
        <p:nvPicPr>
          <p:cNvPr id="105" name="Google Shape;105;p22" title="Screenshot 2026-02-03 at 3.26.3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0700" y="1933800"/>
            <a:ext cx="4498199" cy="3057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Workshop - Part I</a:t>
            </a:r>
            <a:endParaRPr sz="3600"/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457200" y="900125"/>
            <a:ext cx="8229600" cy="3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/>
              <a:t>Setting up with HPCC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3. Based on this documentation, set up your first LM Studio session: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hlink"/>
                </a:solidFill>
                <a:hlinkClick r:id="rId3"/>
              </a:rPr>
              <a:t>https://docs.icer.msu.edu/OnDemand_LMStudio/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4. Read through the “Interim Guidance on Data Uses and Risks of Generative AI.”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Workshop - Part I</a:t>
            </a:r>
            <a:endParaRPr sz="3600"/>
          </a:p>
        </p:txBody>
      </p:sp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457200" y="900125"/>
            <a:ext cx="8229600" cy="38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/>
              <a:t>Setting up with HPCC (Terms explained)</a:t>
            </a:r>
            <a:endParaRPr sz="22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Cores: how many workers you want to work on this task; loading files, running the server; if you need GPU, 2-4 is enough, if you don’t, you need 8-16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RAM (amount of </a:t>
            </a:r>
            <a:r>
              <a:rPr lang="en" sz="1600"/>
              <a:t>memory</a:t>
            </a:r>
            <a:r>
              <a:rPr lang="en" sz="1600"/>
              <a:t>): </a:t>
            </a:r>
            <a:r>
              <a:rPr lang="en" sz="1600"/>
              <a:t>language</a:t>
            </a:r>
            <a:r>
              <a:rPr lang="en" sz="1600"/>
              <a:t> models are huge blobs of numbers, RAM holds that blob in memory, so we can use it; generally we do 2GB per core.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*** If you see “not enough memory,” you need to increase RAM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GPU: imagine it being a super worker that is just really good at math with huge </a:t>
            </a:r>
            <a:r>
              <a:rPr lang="en" sz="1600"/>
              <a:t>matrices</a:t>
            </a:r>
            <a:r>
              <a:rPr lang="en" sz="1600"/>
              <a:t>. GPU makes it faster.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GPU types: V100 (older generation); V100s (slightly newer); A100 (faster)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Node type: different types of CPU architectures, if you use GPU, it doesn’t matter much.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5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Workshop - Part I</a:t>
            </a:r>
            <a:endParaRPr sz="3600"/>
          </a:p>
        </p:txBody>
      </p:sp>
      <p:sp>
        <p:nvSpPr>
          <p:cNvPr id="123" name="Google Shape;123;p25"/>
          <p:cNvSpPr txBox="1"/>
          <p:nvPr>
            <p:ph idx="1" type="body"/>
          </p:nvPr>
        </p:nvSpPr>
        <p:spPr>
          <a:xfrm>
            <a:off x="457200" y="900125"/>
            <a:ext cx="8229600" cy="38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/>
              <a:t>Play with the model</a:t>
            </a:r>
            <a:endParaRPr sz="22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Once you get the LM Studio up and running, you can select between different models and test it with any questions.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6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Workshop - Part II</a:t>
            </a:r>
            <a:endParaRPr sz="3600"/>
          </a:p>
        </p:txBody>
      </p:sp>
      <p:sp>
        <p:nvSpPr>
          <p:cNvPr id="129" name="Google Shape;129;p26"/>
          <p:cNvSpPr txBox="1"/>
          <p:nvPr>
            <p:ph idx="1" type="body"/>
          </p:nvPr>
        </p:nvSpPr>
        <p:spPr>
          <a:xfrm>
            <a:off x="457200" y="900125"/>
            <a:ext cx="8229600" cy="3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/>
              <a:t>UURAF!</a:t>
            </a:r>
            <a:endParaRPr sz="22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Rebecca and Theo: start the UURAF application (</a:t>
            </a:r>
            <a:r>
              <a:rPr lang="en" sz="1600" u="sng">
                <a:solidFill>
                  <a:schemeClr val="hlink"/>
                </a:solidFill>
                <a:hlinkClick r:id="rId3"/>
              </a:rPr>
              <a:t>app.mystory.msu.edu</a:t>
            </a:r>
            <a:r>
              <a:rPr lang="en" sz="1600"/>
              <a:t>), </a:t>
            </a:r>
            <a:r>
              <a:rPr b="1" lang="en" sz="1600"/>
              <a:t>due 2/12</a:t>
            </a:r>
            <a:r>
              <a:rPr lang="en" sz="1600"/>
              <a:t>.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(You do not need to have all materials finalized)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Select “digital humanities” if you can find the tag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Rebecca: invite Teddy to the project, add Titi as mentor; Theo: add Kristen as mentor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All: edit the abstract, make final adjustment, </a:t>
            </a:r>
            <a:r>
              <a:rPr b="1" lang="en" sz="1600"/>
              <a:t>due 3/12.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All: continue to work on the project, </a:t>
            </a:r>
            <a:r>
              <a:rPr b="1" lang="en" sz="1600"/>
              <a:t>until 4/17.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All: complete RCR training in the system, prior to 4/17.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Final presentation: </a:t>
            </a:r>
            <a:r>
              <a:rPr b="1" lang="en" sz="1600"/>
              <a:t>April 17</a:t>
            </a:r>
            <a:r>
              <a:rPr lang="en" sz="1600"/>
              <a:t> at the Breslin Center and Online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7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Workshop - Part II</a:t>
            </a:r>
            <a:endParaRPr sz="3600"/>
          </a:p>
        </p:txBody>
      </p:sp>
      <p:sp>
        <p:nvSpPr>
          <p:cNvPr id="135" name="Google Shape;135;p27"/>
          <p:cNvSpPr txBox="1"/>
          <p:nvPr>
            <p:ph idx="1" type="body"/>
          </p:nvPr>
        </p:nvSpPr>
        <p:spPr>
          <a:xfrm>
            <a:off x="457200" y="900125"/>
            <a:ext cx="8229600" cy="3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/>
              <a:t>UURAF!</a:t>
            </a:r>
            <a:endParaRPr sz="22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Per their email: “As you submit a registration, you will automatically receive an email with more information.”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“Our office hosts workshops for undergraduate students to attend and I highly recommend stopping by some of the workshops we host if students have any questions or concerns about UURAF.” </a:t>
            </a:r>
            <a:endParaRPr sz="1600"/>
          </a:p>
        </p:txBody>
      </p:sp>
      <p:pic>
        <p:nvPicPr>
          <p:cNvPr id="136" name="Google Shape;136;p27" title="Screenshot 2026-02-03 at 3.17.4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5838" y="2871788"/>
            <a:ext cx="6372225" cy="143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8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Workshop - Part III</a:t>
            </a:r>
            <a:endParaRPr sz="3600"/>
          </a:p>
        </p:txBody>
      </p:sp>
      <p:sp>
        <p:nvSpPr>
          <p:cNvPr id="142" name="Google Shape;142;p28"/>
          <p:cNvSpPr txBox="1"/>
          <p:nvPr>
            <p:ph idx="1" type="body"/>
          </p:nvPr>
        </p:nvSpPr>
        <p:spPr>
          <a:xfrm>
            <a:off x="457200" y="900125"/>
            <a:ext cx="8229600" cy="3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/>
              <a:t>Feedback on </a:t>
            </a:r>
            <a:r>
              <a:rPr lang="en" sz="2200"/>
              <a:t>UURAF’s abstract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4 Assignment</a:t>
            </a:r>
            <a:endParaRPr/>
          </a:p>
        </p:txBody>
      </p:sp>
      <p:sp>
        <p:nvSpPr>
          <p:cNvPr id="148" name="Google Shape;148;p29"/>
          <p:cNvSpPr txBox="1"/>
          <p:nvPr>
            <p:ph idx="1" type="body"/>
          </p:nvPr>
        </p:nvSpPr>
        <p:spPr>
          <a:xfrm>
            <a:off x="457200" y="900125"/>
            <a:ext cx="8229600" cy="37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Select a language model on LMStudio, explain why you picked this one (short rationale + screenshot).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