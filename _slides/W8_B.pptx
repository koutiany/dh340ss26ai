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2" r:id="rId4"/>
    <p:sldMasterId id="2147483663"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badbb0b52c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g3badbb0b52c_0_2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badbb0b52c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g3badbb0b52c_0_4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cb6397a508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g3cb6397a508_0_2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cf986accca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g3cf986accca_0_3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cf986accca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g3cf986accca_0_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cf986accca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g3cf986accca_0_2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cf986accca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g3cf986accca_0_2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cf986accca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g3cf986accca_0_4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cf986accca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g3cf986accca_0_4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cf986accca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g3cf986accca_0_6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b9198a577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g3b9198a5775_0_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
        <p:nvSpPr>
          <p:cNvPr id="55" name="Google Shape;55;p14"/>
          <p:cNvSpPr txBox="1"/>
          <p:nvPr>
            <p:ph type="ctrTitle"/>
          </p:nvPr>
        </p:nvSpPr>
        <p:spPr>
          <a:xfrm>
            <a:off x="980966" y="954060"/>
            <a:ext cx="7190700" cy="8787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14"/>
          <p:cNvSpPr txBox="1"/>
          <p:nvPr>
            <p:ph idx="1" type="subTitle"/>
          </p:nvPr>
        </p:nvSpPr>
        <p:spPr>
          <a:xfrm>
            <a:off x="980966" y="2106338"/>
            <a:ext cx="7190700" cy="1314600"/>
          </a:xfrm>
          <a:prstGeom prst="rect">
            <a:avLst/>
          </a:prstGeom>
          <a:noFill/>
          <a:ln>
            <a:noFill/>
          </a:ln>
        </p:spPr>
        <p:txBody>
          <a:bodyPr anchorCtr="0" anchor="t" bIns="45700" lIns="91425" spcFirstLastPara="1" rIns="91425" wrap="square" tIns="45700">
            <a:noAutofit/>
          </a:bodyPr>
          <a:lstStyle>
            <a:lvl1pPr lvl="0" algn="l">
              <a:spcBef>
                <a:spcPts val="640"/>
              </a:spcBef>
              <a:spcAft>
                <a:spcPts val="0"/>
              </a:spcAft>
              <a:buClr>
                <a:srgbClr val="3F3F3F"/>
              </a:buClr>
              <a:buSzPts val="3200"/>
              <a:buNone/>
              <a:defRPr>
                <a:solidFill>
                  <a:srgbClr val="3F3F3F"/>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7" name="Shape 57"/>
        <p:cNvGrpSpPr/>
        <p:nvPr/>
      </p:nvGrpSpPr>
      <p:grpSpPr>
        <a:xfrm>
          <a:off x="0" y="0"/>
          <a:ext cx="0" cy="0"/>
          <a:chOff x="0" y="0"/>
          <a:chExt cx="0" cy="0"/>
        </a:xfrm>
      </p:grpSpPr>
      <p:sp>
        <p:nvSpPr>
          <p:cNvPr id="58" name="Google Shape;58;p15"/>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5"/>
          <p:cNvSpPr txBox="1"/>
          <p:nvPr>
            <p:ph idx="1" type="body"/>
          </p:nvPr>
        </p:nvSpPr>
        <p:spPr>
          <a:xfrm>
            <a:off x="457200" y="1200150"/>
            <a:ext cx="4038600" cy="3394500"/>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rgbClr val="3F3F3F"/>
              </a:buClr>
              <a:buSzPts val="2800"/>
              <a:buChar char="•"/>
              <a:defRPr sz="2800">
                <a:solidFill>
                  <a:srgbClr val="3F3F3F"/>
                </a:solidFill>
              </a:defRPr>
            </a:lvl1pPr>
            <a:lvl2pPr indent="-381000" lvl="1" marL="914400" algn="l">
              <a:spcBef>
                <a:spcPts val="480"/>
              </a:spcBef>
              <a:spcAft>
                <a:spcPts val="0"/>
              </a:spcAft>
              <a:buClr>
                <a:srgbClr val="3F3F3F"/>
              </a:buClr>
              <a:buSzPts val="2400"/>
              <a:buChar char="–"/>
              <a:defRPr sz="2400">
                <a:solidFill>
                  <a:srgbClr val="3F3F3F"/>
                </a:solidFill>
              </a:defRPr>
            </a:lvl2pPr>
            <a:lvl3pPr indent="-355600" lvl="2" marL="1371600" algn="l">
              <a:spcBef>
                <a:spcPts val="400"/>
              </a:spcBef>
              <a:spcAft>
                <a:spcPts val="0"/>
              </a:spcAft>
              <a:buClr>
                <a:srgbClr val="3F3F3F"/>
              </a:buClr>
              <a:buSzPts val="2000"/>
              <a:buChar char="•"/>
              <a:defRPr sz="2000">
                <a:solidFill>
                  <a:srgbClr val="3F3F3F"/>
                </a:solidFill>
              </a:defRPr>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60" name="Google Shape;60;p15"/>
          <p:cNvSpPr txBox="1"/>
          <p:nvPr>
            <p:ph idx="2" type="body"/>
          </p:nvPr>
        </p:nvSpPr>
        <p:spPr>
          <a:xfrm>
            <a:off x="4648200" y="1200150"/>
            <a:ext cx="4038600" cy="3394500"/>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rgbClr val="3F3F3F"/>
              </a:buClr>
              <a:buSzPts val="2800"/>
              <a:buChar char="•"/>
              <a:defRPr sz="2800">
                <a:solidFill>
                  <a:srgbClr val="3F3F3F"/>
                </a:solidFill>
              </a:defRPr>
            </a:lvl1pPr>
            <a:lvl2pPr indent="-381000" lvl="1" marL="914400" algn="l">
              <a:spcBef>
                <a:spcPts val="480"/>
              </a:spcBef>
              <a:spcAft>
                <a:spcPts val="0"/>
              </a:spcAft>
              <a:buClr>
                <a:srgbClr val="3F3F3F"/>
              </a:buClr>
              <a:buSzPts val="2400"/>
              <a:buChar char="–"/>
              <a:defRPr sz="2400">
                <a:solidFill>
                  <a:srgbClr val="3F3F3F"/>
                </a:solidFill>
              </a:defRPr>
            </a:lvl2pPr>
            <a:lvl3pPr indent="-355600" lvl="2" marL="1371600" algn="l">
              <a:spcBef>
                <a:spcPts val="400"/>
              </a:spcBef>
              <a:spcAft>
                <a:spcPts val="0"/>
              </a:spcAft>
              <a:buClr>
                <a:srgbClr val="3F3F3F"/>
              </a:buClr>
              <a:buSzPts val="2000"/>
              <a:buChar char="•"/>
              <a:defRPr sz="2000">
                <a:solidFill>
                  <a:srgbClr val="3F3F3F"/>
                </a:solidFill>
              </a:defRPr>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6"/>
          <p:cNvSpPr txBox="1"/>
          <p:nvPr>
            <p:ph type="title"/>
          </p:nvPr>
        </p:nvSpPr>
        <p:spPr>
          <a:xfrm>
            <a:off x="1792288" y="3600450"/>
            <a:ext cx="5486400" cy="4251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16"/>
          <p:cNvSpPr/>
          <p:nvPr>
            <p:ph idx="2" type="pic"/>
          </p:nvPr>
        </p:nvSpPr>
        <p:spPr>
          <a:xfrm>
            <a:off x="1792288" y="459581"/>
            <a:ext cx="5486400" cy="3086100"/>
          </a:xfrm>
          <a:prstGeom prst="rect">
            <a:avLst/>
          </a:prstGeom>
          <a:noFill/>
          <a:ln>
            <a:noFill/>
          </a:ln>
        </p:spPr>
      </p:sp>
      <p:sp>
        <p:nvSpPr>
          <p:cNvPr id="64" name="Google Shape;64;p16"/>
          <p:cNvSpPr txBox="1"/>
          <p:nvPr>
            <p:ph idx="1" type="body"/>
          </p:nvPr>
        </p:nvSpPr>
        <p:spPr>
          <a:xfrm>
            <a:off x="1792288" y="4025504"/>
            <a:ext cx="5486400" cy="603600"/>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rgbClr val="3F3F3F"/>
              </a:buClr>
              <a:buSzPts val="1400"/>
              <a:buNone/>
              <a:defRPr sz="1400">
                <a:solidFill>
                  <a:srgbClr val="3F3F3F"/>
                </a:solidFill>
              </a:defRPr>
            </a:lvl1pPr>
            <a:lvl2pPr indent="-228600" lvl="1" marL="914400" algn="l">
              <a:spcBef>
                <a:spcPts val="240"/>
              </a:spcBef>
              <a:spcAft>
                <a:spcPts val="0"/>
              </a:spcAft>
              <a:buClr>
                <a:srgbClr val="3F3F3F"/>
              </a:buClr>
              <a:buSzPts val="1200"/>
              <a:buNone/>
              <a:defRPr sz="1200"/>
            </a:lvl2pPr>
            <a:lvl3pPr indent="-228600" lvl="2" marL="1371600" algn="l">
              <a:spcBef>
                <a:spcPts val="200"/>
              </a:spcBef>
              <a:spcAft>
                <a:spcPts val="0"/>
              </a:spcAft>
              <a:buClr>
                <a:srgbClr val="3F3F3F"/>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lvl1pPr lvl="0" marR="0" algn="l">
              <a:spcBef>
                <a:spcPts val="0"/>
              </a:spcBef>
              <a:spcAft>
                <a:spcPts val="0"/>
              </a:spcAft>
              <a:buSzPts val="1400"/>
              <a:buNone/>
              <a:defRPr b="1" i="0" sz="4400" u="none" cap="none" strike="noStrike">
                <a:solidFill>
                  <a:srgbClr val="008183"/>
                </a:solidFill>
                <a:latin typeface="Arial"/>
                <a:ea typeface="Arial"/>
                <a:cs typeface="Arial"/>
                <a:sym typeface="Arial"/>
              </a:defRPr>
            </a:lvl1pPr>
            <a:lvl2pPr lvl="1" marR="0" algn="l">
              <a:spcBef>
                <a:spcPts val="0"/>
              </a:spcBef>
              <a:spcAft>
                <a:spcPts val="0"/>
              </a:spcAft>
              <a:buSzPts val="1400"/>
              <a:buNone/>
              <a:defRPr b="1" i="0" sz="4400" u="none" cap="none" strike="noStrike">
                <a:solidFill>
                  <a:srgbClr val="6BBD1B"/>
                </a:solidFill>
                <a:latin typeface="Arial"/>
                <a:ea typeface="Arial"/>
                <a:cs typeface="Arial"/>
                <a:sym typeface="Arial"/>
              </a:defRPr>
            </a:lvl2pPr>
            <a:lvl3pPr lvl="2" marR="0" algn="l">
              <a:spcBef>
                <a:spcPts val="0"/>
              </a:spcBef>
              <a:spcAft>
                <a:spcPts val="0"/>
              </a:spcAft>
              <a:buSzPts val="1400"/>
              <a:buNone/>
              <a:defRPr b="1" i="0" sz="4400" u="none" cap="none" strike="noStrike">
                <a:solidFill>
                  <a:srgbClr val="6BBD1B"/>
                </a:solidFill>
                <a:latin typeface="Arial"/>
                <a:ea typeface="Arial"/>
                <a:cs typeface="Arial"/>
                <a:sym typeface="Arial"/>
              </a:defRPr>
            </a:lvl3pPr>
            <a:lvl4pPr lvl="3" marR="0" algn="l">
              <a:spcBef>
                <a:spcPts val="0"/>
              </a:spcBef>
              <a:spcAft>
                <a:spcPts val="0"/>
              </a:spcAft>
              <a:buSzPts val="1400"/>
              <a:buNone/>
              <a:defRPr b="1" i="0" sz="4400" u="none" cap="none" strike="noStrike">
                <a:solidFill>
                  <a:srgbClr val="6BBD1B"/>
                </a:solidFill>
                <a:latin typeface="Arial"/>
                <a:ea typeface="Arial"/>
                <a:cs typeface="Arial"/>
                <a:sym typeface="Arial"/>
              </a:defRPr>
            </a:lvl4pPr>
            <a:lvl5pPr lvl="4" marR="0" algn="l">
              <a:spcBef>
                <a:spcPts val="0"/>
              </a:spcBef>
              <a:spcAft>
                <a:spcPts val="0"/>
              </a:spcAft>
              <a:buSzPts val="1400"/>
              <a:buNone/>
              <a:defRPr b="1" i="0" sz="4400" u="none" cap="none" strike="noStrike">
                <a:solidFill>
                  <a:srgbClr val="6BBD1B"/>
                </a:solidFill>
                <a:latin typeface="Arial"/>
                <a:ea typeface="Arial"/>
                <a:cs typeface="Arial"/>
                <a:sym typeface="Arial"/>
              </a:defRPr>
            </a:lvl5pPr>
            <a:lvl6pPr lvl="5" marR="0" algn="l">
              <a:spcBef>
                <a:spcPts val="0"/>
              </a:spcBef>
              <a:spcAft>
                <a:spcPts val="0"/>
              </a:spcAft>
              <a:buSzPts val="1400"/>
              <a:buNone/>
              <a:defRPr b="1" i="0" sz="4400" u="none" cap="none" strike="noStrike">
                <a:solidFill>
                  <a:srgbClr val="6BBD1B"/>
                </a:solidFill>
                <a:latin typeface="Arial"/>
                <a:ea typeface="Arial"/>
                <a:cs typeface="Arial"/>
                <a:sym typeface="Arial"/>
              </a:defRPr>
            </a:lvl6pPr>
            <a:lvl7pPr lvl="6" marR="0" algn="l">
              <a:spcBef>
                <a:spcPts val="0"/>
              </a:spcBef>
              <a:spcAft>
                <a:spcPts val="0"/>
              </a:spcAft>
              <a:buSzPts val="1400"/>
              <a:buNone/>
              <a:defRPr b="1" i="0" sz="4400" u="none" cap="none" strike="noStrike">
                <a:solidFill>
                  <a:srgbClr val="6BBD1B"/>
                </a:solidFill>
                <a:latin typeface="Arial"/>
                <a:ea typeface="Arial"/>
                <a:cs typeface="Arial"/>
                <a:sym typeface="Arial"/>
              </a:defRPr>
            </a:lvl7pPr>
            <a:lvl8pPr lvl="7" marR="0" algn="l">
              <a:spcBef>
                <a:spcPts val="0"/>
              </a:spcBef>
              <a:spcAft>
                <a:spcPts val="0"/>
              </a:spcAft>
              <a:buSzPts val="1400"/>
              <a:buNone/>
              <a:defRPr b="1" i="0" sz="4400" u="none" cap="none" strike="noStrike">
                <a:solidFill>
                  <a:srgbClr val="6BBD1B"/>
                </a:solidFill>
                <a:latin typeface="Arial"/>
                <a:ea typeface="Arial"/>
                <a:cs typeface="Arial"/>
                <a:sym typeface="Arial"/>
              </a:defRPr>
            </a:lvl8pPr>
            <a:lvl9pPr lvl="8" marR="0" algn="l">
              <a:spcBef>
                <a:spcPts val="0"/>
              </a:spcBef>
              <a:spcAft>
                <a:spcPts val="0"/>
              </a:spcAft>
              <a:buSzPts val="1400"/>
              <a:buNone/>
              <a:defRPr b="1" i="0" sz="4400" u="none" cap="none" strike="noStrike">
                <a:solidFill>
                  <a:srgbClr val="6BBD1B"/>
                </a:solidFill>
                <a:latin typeface="Arial"/>
                <a:ea typeface="Arial"/>
                <a:cs typeface="Arial"/>
                <a:sym typeface="Arial"/>
              </a:defRPr>
            </a:lvl9pPr>
          </a:lstStyle>
          <a:p/>
        </p:txBody>
      </p:sp>
      <p:sp>
        <p:nvSpPr>
          <p:cNvPr id="52" name="Google Shape;52;p13"/>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Autofit/>
          </a:bodyPr>
          <a:lstStyle>
            <a:lvl1pPr indent="-431800" lvl="0" marL="457200" marR="0" algn="l">
              <a:spcBef>
                <a:spcPts val="640"/>
              </a:spcBef>
              <a:spcAft>
                <a:spcPts val="0"/>
              </a:spcAft>
              <a:buClr>
                <a:srgbClr val="3F3F3F"/>
              </a:buClr>
              <a:buSzPts val="3200"/>
              <a:buFont typeface="Arial"/>
              <a:buChar char="•"/>
              <a:defRPr b="0" i="0" sz="3200" u="none" cap="none" strike="noStrike">
                <a:solidFill>
                  <a:srgbClr val="3F3F3F"/>
                </a:solidFill>
                <a:latin typeface="Arial"/>
                <a:ea typeface="Arial"/>
                <a:cs typeface="Arial"/>
                <a:sym typeface="Arial"/>
              </a:defRPr>
            </a:lvl1pPr>
            <a:lvl2pPr indent="-406400" lvl="1" marL="914400" marR="0" algn="l">
              <a:spcBef>
                <a:spcPts val="560"/>
              </a:spcBef>
              <a:spcAft>
                <a:spcPts val="0"/>
              </a:spcAft>
              <a:buClr>
                <a:srgbClr val="3F3F3F"/>
              </a:buClr>
              <a:buSzPts val="2800"/>
              <a:buFont typeface="Arial"/>
              <a:buChar char="–"/>
              <a:defRPr b="0" i="0" sz="2800" u="none" cap="none" strike="noStrike">
                <a:solidFill>
                  <a:srgbClr val="3F3F3F"/>
                </a:solidFill>
                <a:latin typeface="Arial"/>
                <a:ea typeface="Arial"/>
                <a:cs typeface="Arial"/>
                <a:sym typeface="Arial"/>
              </a:defRPr>
            </a:lvl2pPr>
            <a:lvl3pPr indent="-381000" lvl="2" marL="1371600" marR="0" algn="l">
              <a:spcBef>
                <a:spcPts val="480"/>
              </a:spcBef>
              <a:spcAft>
                <a:spcPts val="0"/>
              </a:spcAft>
              <a:buClr>
                <a:srgbClr val="3F3F3F"/>
              </a:buClr>
              <a:buSzPts val="2400"/>
              <a:buFont typeface="Arial"/>
              <a:buChar char="•"/>
              <a:defRPr b="0" i="0" sz="2400" u="none" cap="none" strike="noStrike">
                <a:solidFill>
                  <a:srgbClr val="3F3F3F"/>
                </a:solidFill>
                <a:latin typeface="Arial"/>
                <a:ea typeface="Arial"/>
                <a:cs typeface="Arial"/>
                <a:sym typeface="Arial"/>
              </a:defRPr>
            </a:lvl3pPr>
            <a:lvl4pPr indent="-355600" lvl="3" marL="1828800" marR="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pic>
        <p:nvPicPr>
          <p:cNvPr descr="Michigan State University logo" id="53" name="Google Shape;53;p13"/>
          <p:cNvPicPr preferRelativeResize="0"/>
          <p:nvPr/>
        </p:nvPicPr>
        <p:blipFill rotWithShape="1">
          <a:blip r:embed="rId1">
            <a:alphaModFix/>
          </a:blip>
          <a:srcRect b="0" l="0" r="0" t="0"/>
          <a:stretch/>
        </p:blipFill>
        <p:spPr>
          <a:xfrm>
            <a:off x="3643313" y="4908517"/>
            <a:ext cx="1394217" cy="1176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9" r:id="rId2"/>
    <p:sldLayoutId id="2147483660" r:id="rId3"/>
    <p:sldLayoutId id="2147483661"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hyperlink" Target="https://libguides.lib.msu.edu/c.php?g=259260&amp;p=11074731" TargetMode="External"/><Relationship Id="rId4" Type="http://schemas.openxmlformats.org/officeDocument/2006/relationships/hyperlink" Target="https://www.lexisnexis.com/en-us/terms/general/default.page" TargetMode="External"/><Relationship Id="rId5"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hyperlink" Target="https://libguides.lib.msu.edu/c.php?g=95599&amp;p=9436821" TargetMode="External"/><Relationship Id="rId4" Type="http://schemas.openxmlformats.org/officeDocument/2006/relationships/hyperlink" Target="https://textassembler.lib.msu.edu/search" TargetMode="External"/><Relationship Id="rId5"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hyperlink" Target="https://tdmstudio.proquest.com/home" TargetMode="Externa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7"/>
          <p:cNvSpPr txBox="1"/>
          <p:nvPr>
            <p:ph type="ctrTitle"/>
          </p:nvPr>
        </p:nvSpPr>
        <p:spPr>
          <a:xfrm>
            <a:off x="980966" y="954060"/>
            <a:ext cx="7190700" cy="8787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
              <a:t>Week 8 Session B</a:t>
            </a:r>
            <a:endParaRPr/>
          </a:p>
        </p:txBody>
      </p:sp>
      <p:sp>
        <p:nvSpPr>
          <p:cNvPr id="70" name="Google Shape;70;p17"/>
          <p:cNvSpPr txBox="1"/>
          <p:nvPr>
            <p:ph idx="1" type="subTitle"/>
          </p:nvPr>
        </p:nvSpPr>
        <p:spPr>
          <a:xfrm>
            <a:off x="980966" y="2106338"/>
            <a:ext cx="7190700" cy="13146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rgbClr val="3F3F3F"/>
              </a:buClr>
              <a:buSzPts val="3200"/>
              <a:buNone/>
            </a:pPr>
            <a:r>
              <a:rPr lang="en" sz="3000"/>
              <a:t>Thursday, March 12 2026</a:t>
            </a:r>
            <a:endParaRPr sz="30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8"/>
          <p:cNvSpPr txBox="1"/>
          <p:nvPr>
            <p:ph type="title"/>
          </p:nvPr>
        </p:nvSpPr>
        <p:spPr>
          <a:xfrm>
            <a:off x="457200" y="154484"/>
            <a:ext cx="8229600" cy="643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
              <a:t>Overview</a:t>
            </a:r>
            <a:endParaRPr/>
          </a:p>
        </p:txBody>
      </p:sp>
      <p:sp>
        <p:nvSpPr>
          <p:cNvPr id="76" name="Google Shape;76;p18"/>
          <p:cNvSpPr txBox="1"/>
          <p:nvPr>
            <p:ph idx="1" type="body"/>
          </p:nvPr>
        </p:nvSpPr>
        <p:spPr>
          <a:xfrm>
            <a:off x="457200" y="900125"/>
            <a:ext cx="6967800" cy="3534600"/>
          </a:xfrm>
          <a:prstGeom prst="rect">
            <a:avLst/>
          </a:prstGeom>
          <a:noFill/>
          <a:ln>
            <a:noFill/>
          </a:ln>
        </p:spPr>
        <p:txBody>
          <a:bodyPr anchorCtr="0" anchor="t" bIns="45700" lIns="91425" spcFirstLastPara="1" rIns="91425" wrap="square" tIns="45700">
            <a:noAutofit/>
          </a:bodyPr>
          <a:lstStyle/>
          <a:p>
            <a:pPr indent="-355600" lvl="0" marL="457200" rtl="0" algn="l">
              <a:lnSpc>
                <a:spcPct val="115000"/>
              </a:lnSpc>
              <a:spcBef>
                <a:spcPts val="0"/>
              </a:spcBef>
              <a:spcAft>
                <a:spcPts val="0"/>
              </a:spcAft>
              <a:buSzPts val="2000"/>
              <a:buChar char="•"/>
            </a:pPr>
            <a:r>
              <a:rPr lang="en" sz="2000"/>
              <a:t>Data Collection: What a depressing week…</a:t>
            </a:r>
            <a:endParaRPr sz="2000"/>
          </a:p>
          <a:p>
            <a:pPr indent="-368300" lvl="0" marL="457200" rtl="0" algn="l">
              <a:lnSpc>
                <a:spcPct val="115000"/>
              </a:lnSpc>
              <a:spcBef>
                <a:spcPts val="0"/>
              </a:spcBef>
              <a:spcAft>
                <a:spcPts val="0"/>
              </a:spcAft>
              <a:buSzPts val="2200"/>
              <a:buChar char="•"/>
            </a:pPr>
            <a:r>
              <a:rPr lang="en" sz="2000"/>
              <a:t>Week 8 Assignmen</a:t>
            </a:r>
            <a:r>
              <a:rPr lang="en" sz="2200"/>
              <a:t>t</a:t>
            </a:r>
            <a:endParaRPr sz="22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9"/>
          <p:cNvSpPr txBox="1"/>
          <p:nvPr>
            <p:ph type="title"/>
          </p:nvPr>
        </p:nvSpPr>
        <p:spPr>
          <a:xfrm>
            <a:off x="457200" y="154484"/>
            <a:ext cx="8229600" cy="643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 sz="3200"/>
              <a:t>Data Collection - </a:t>
            </a:r>
            <a:r>
              <a:rPr lang="en" sz="3200"/>
              <a:t>What</a:t>
            </a:r>
            <a:r>
              <a:rPr lang="en" sz="3200"/>
              <a:t> </a:t>
            </a:r>
            <a:r>
              <a:rPr lang="en" sz="3200"/>
              <a:t>happened</a:t>
            </a:r>
            <a:r>
              <a:rPr lang="en" sz="3200"/>
              <a:t>?</a:t>
            </a:r>
            <a:endParaRPr sz="3200"/>
          </a:p>
        </p:txBody>
      </p:sp>
      <p:sp>
        <p:nvSpPr>
          <p:cNvPr id="82" name="Google Shape;82;p19"/>
          <p:cNvSpPr txBox="1"/>
          <p:nvPr>
            <p:ph idx="1" type="body"/>
          </p:nvPr>
        </p:nvSpPr>
        <p:spPr>
          <a:xfrm>
            <a:off x="552450" y="944300"/>
            <a:ext cx="6176400" cy="3478200"/>
          </a:xfrm>
          <a:prstGeom prst="rect">
            <a:avLst/>
          </a:prstGeom>
          <a:noFill/>
          <a:ln>
            <a:noFill/>
          </a:ln>
        </p:spPr>
        <p:txBody>
          <a:bodyPr anchorCtr="0" anchor="t" bIns="45700" lIns="91425" spcFirstLastPara="1" rIns="91425" wrap="square" tIns="45700">
            <a:noAutofit/>
          </a:bodyPr>
          <a:lstStyle/>
          <a:p>
            <a:pPr indent="-317500" lvl="0" marL="457200" rtl="0" algn="l">
              <a:lnSpc>
                <a:spcPct val="115000"/>
              </a:lnSpc>
              <a:spcBef>
                <a:spcPts val="0"/>
              </a:spcBef>
              <a:spcAft>
                <a:spcPts val="0"/>
              </a:spcAft>
              <a:buSzPts val="1400"/>
              <a:buChar char="•"/>
            </a:pPr>
            <a:r>
              <a:rPr b="1" lang="en" sz="1400"/>
              <a:t>Data:</a:t>
            </a:r>
            <a:endParaRPr sz="1400"/>
          </a:p>
          <a:p>
            <a:pPr indent="-317500" lvl="1" marL="914400" rtl="0" algn="l">
              <a:lnSpc>
                <a:spcPct val="115000"/>
              </a:lnSpc>
              <a:spcBef>
                <a:spcPts val="0"/>
              </a:spcBef>
              <a:spcAft>
                <a:spcPts val="0"/>
              </a:spcAft>
              <a:buSzPts val="1400"/>
              <a:buChar char="–"/>
            </a:pPr>
            <a:r>
              <a:rPr lang="en" sz="1400"/>
              <a:t>I was told that we can no longer use Lexis Nexis’s data even we download their data and run all analysis locally (or on HPCC/ICER’s machine).</a:t>
            </a:r>
            <a:endParaRPr sz="1400"/>
          </a:p>
          <a:p>
            <a:pPr indent="-317500" lvl="1" marL="914400" rtl="0" algn="l">
              <a:lnSpc>
                <a:spcPct val="115000"/>
              </a:lnSpc>
              <a:spcBef>
                <a:spcPts val="0"/>
              </a:spcBef>
              <a:spcAft>
                <a:spcPts val="0"/>
              </a:spcAft>
              <a:buSzPts val="1400"/>
              <a:buChar char="–"/>
            </a:pPr>
            <a:r>
              <a:rPr lang="en" sz="1400"/>
              <a:t>AI Tool use: </a:t>
            </a:r>
            <a:r>
              <a:rPr lang="en" sz="1400" u="sng">
                <a:solidFill>
                  <a:schemeClr val="hlink"/>
                </a:solidFill>
                <a:hlinkClick r:id="rId3"/>
              </a:rPr>
              <a:t>Terms of Use</a:t>
            </a:r>
            <a:r>
              <a:rPr lang="en" sz="1400"/>
              <a:t> for Electronic Journals and Other Electronic Resources</a:t>
            </a:r>
            <a:endParaRPr sz="1400"/>
          </a:p>
          <a:p>
            <a:pPr indent="-317500" lvl="1" marL="914400" rtl="0" algn="l">
              <a:lnSpc>
                <a:spcPct val="115000"/>
              </a:lnSpc>
              <a:spcBef>
                <a:spcPts val="0"/>
              </a:spcBef>
              <a:spcAft>
                <a:spcPts val="0"/>
              </a:spcAft>
              <a:buSzPts val="1400"/>
              <a:buChar char="–"/>
            </a:pPr>
            <a:r>
              <a:rPr lang="en" sz="1400" u="sng">
                <a:solidFill>
                  <a:schemeClr val="hlink"/>
                </a:solidFill>
                <a:hlinkClick r:id="rId4"/>
              </a:rPr>
              <a:t>Lexis Nexis’</a:t>
            </a:r>
            <a:r>
              <a:rPr lang="en" sz="1400"/>
              <a:t> General Terms and Conditions:</a:t>
            </a:r>
            <a:endParaRPr sz="1400"/>
          </a:p>
          <a:p>
            <a:pPr indent="0" lvl="0" marL="914400" rtl="0" algn="l">
              <a:lnSpc>
                <a:spcPct val="115000"/>
              </a:lnSpc>
              <a:spcBef>
                <a:spcPts val="0"/>
              </a:spcBef>
              <a:spcAft>
                <a:spcPts val="0"/>
              </a:spcAft>
              <a:buNone/>
            </a:pPr>
            <a:r>
              <a:rPr lang="en" sz="1400"/>
              <a:t>1.2 You may not:</a:t>
            </a:r>
            <a:endParaRPr sz="1400"/>
          </a:p>
          <a:p>
            <a:pPr indent="0" lvl="0" marL="914400" rtl="0" algn="l">
              <a:lnSpc>
                <a:spcPct val="115000"/>
              </a:lnSpc>
              <a:spcBef>
                <a:spcPts val="0"/>
              </a:spcBef>
              <a:spcAft>
                <a:spcPts val="0"/>
              </a:spcAft>
              <a:buNone/>
            </a:pPr>
            <a:r>
              <a:rPr lang="en" sz="1400"/>
              <a:t>(h) use any of the Materials to train (or facilitate the training of) large language models, machine learning models, generative AI, or other similar technologies (“AI Technologies” or “AI Technology”). The uploading or submission of Materials into third party applications, software or websites that utilize AI Technologies is prohibited unless approved in writing by LN;</a:t>
            </a:r>
            <a:endParaRPr sz="1400"/>
          </a:p>
          <a:p>
            <a:pPr indent="0" lvl="0" marL="0" rtl="0" algn="l">
              <a:lnSpc>
                <a:spcPct val="115000"/>
              </a:lnSpc>
              <a:spcBef>
                <a:spcPts val="0"/>
              </a:spcBef>
              <a:spcAft>
                <a:spcPts val="0"/>
              </a:spcAft>
              <a:buNone/>
            </a:pPr>
            <a:r>
              <a:t/>
            </a:r>
            <a:endParaRPr sz="1400"/>
          </a:p>
        </p:txBody>
      </p:sp>
      <p:pic>
        <p:nvPicPr>
          <p:cNvPr id="83" name="Google Shape;83;p19"/>
          <p:cNvPicPr preferRelativeResize="0"/>
          <p:nvPr/>
        </p:nvPicPr>
        <p:blipFill>
          <a:blip r:embed="rId5">
            <a:alphaModFix/>
          </a:blip>
          <a:stretch>
            <a:fillRect/>
          </a:stretch>
        </p:blipFill>
        <p:spPr>
          <a:xfrm>
            <a:off x="6728850" y="1588550"/>
            <a:ext cx="2095500" cy="20955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20"/>
          <p:cNvSpPr txBox="1"/>
          <p:nvPr>
            <p:ph type="title"/>
          </p:nvPr>
        </p:nvSpPr>
        <p:spPr>
          <a:xfrm>
            <a:off x="457200" y="154484"/>
            <a:ext cx="8229600" cy="643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 sz="3200"/>
              <a:t>Data Collection - In an ideal world…</a:t>
            </a:r>
            <a:endParaRPr sz="3200"/>
          </a:p>
        </p:txBody>
      </p:sp>
      <p:sp>
        <p:nvSpPr>
          <p:cNvPr id="89" name="Google Shape;89;p20"/>
          <p:cNvSpPr txBox="1"/>
          <p:nvPr>
            <p:ph idx="1" type="body"/>
          </p:nvPr>
        </p:nvSpPr>
        <p:spPr>
          <a:xfrm>
            <a:off x="552450" y="944300"/>
            <a:ext cx="6176400" cy="3478200"/>
          </a:xfrm>
          <a:prstGeom prst="rect">
            <a:avLst/>
          </a:prstGeom>
          <a:noFill/>
          <a:ln>
            <a:noFill/>
          </a:ln>
        </p:spPr>
        <p:txBody>
          <a:bodyPr anchorCtr="0" anchor="t" bIns="45700" lIns="91425" spcFirstLastPara="1" rIns="91425" wrap="square" tIns="45700">
            <a:noAutofit/>
          </a:bodyPr>
          <a:lstStyle/>
          <a:p>
            <a:pPr indent="-317500" lvl="0" marL="457200" rtl="0" algn="l">
              <a:lnSpc>
                <a:spcPct val="115000"/>
              </a:lnSpc>
              <a:spcBef>
                <a:spcPts val="0"/>
              </a:spcBef>
              <a:spcAft>
                <a:spcPts val="0"/>
              </a:spcAft>
              <a:buSzPts val="1400"/>
              <a:buChar char="•"/>
            </a:pPr>
            <a:r>
              <a:rPr b="1" lang="en" sz="1400"/>
              <a:t>Result with 50 articles:</a:t>
            </a:r>
            <a:endParaRPr b="1" sz="1400"/>
          </a:p>
          <a:p>
            <a:pPr indent="0" lvl="0" marL="457200" rtl="0" algn="l">
              <a:lnSpc>
                <a:spcPct val="115000"/>
              </a:lnSpc>
              <a:spcBef>
                <a:spcPts val="0"/>
              </a:spcBef>
              <a:spcAft>
                <a:spcPts val="0"/>
              </a:spcAft>
              <a:buNone/>
            </a:pPr>
            <a:r>
              <a:rPr lang="en" sz="1400"/>
              <a:t>I ran it on HPCC using their Jupyter notebook, and we got some beautiful results…</a:t>
            </a:r>
            <a:endParaRPr sz="1400"/>
          </a:p>
          <a:p>
            <a:pPr indent="0" lvl="0" marL="457200" rtl="0" algn="l">
              <a:lnSpc>
                <a:spcPct val="115000"/>
              </a:lnSpc>
              <a:spcBef>
                <a:spcPts val="0"/>
              </a:spcBef>
              <a:spcAft>
                <a:spcPts val="0"/>
              </a:spcAft>
              <a:buNone/>
            </a:pPr>
            <a:r>
              <a:rPr lang="en" sz="1400"/>
              <a:t>Now if 50 articles work, let’s try it with 500 articles!</a:t>
            </a:r>
            <a:endParaRPr sz="1400"/>
          </a:p>
          <a:p>
            <a:pPr indent="0" lvl="0" marL="0" rtl="0" algn="l">
              <a:lnSpc>
                <a:spcPct val="115000"/>
              </a:lnSpc>
              <a:spcBef>
                <a:spcPts val="0"/>
              </a:spcBef>
              <a:spcAft>
                <a:spcPts val="0"/>
              </a:spcAft>
              <a:buNone/>
            </a:pPr>
            <a:r>
              <a:t/>
            </a:r>
            <a:endParaRPr sz="1400"/>
          </a:p>
        </p:txBody>
      </p:sp>
      <p:pic>
        <p:nvPicPr>
          <p:cNvPr id="90" name="Google Shape;90;p20"/>
          <p:cNvPicPr preferRelativeResize="0"/>
          <p:nvPr/>
        </p:nvPicPr>
        <p:blipFill>
          <a:blip r:embed="rId3">
            <a:alphaModFix/>
          </a:blip>
          <a:stretch>
            <a:fillRect/>
          </a:stretch>
        </p:blipFill>
        <p:spPr>
          <a:xfrm>
            <a:off x="5239350" y="2276050"/>
            <a:ext cx="3700725" cy="21919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1"/>
          <p:cNvSpPr txBox="1"/>
          <p:nvPr>
            <p:ph type="title"/>
          </p:nvPr>
        </p:nvSpPr>
        <p:spPr>
          <a:xfrm>
            <a:off x="457200" y="154484"/>
            <a:ext cx="8229600" cy="643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 sz="3200"/>
              <a:t>Data Collection - What happened?</a:t>
            </a:r>
            <a:endParaRPr sz="3200"/>
          </a:p>
        </p:txBody>
      </p:sp>
      <p:sp>
        <p:nvSpPr>
          <p:cNvPr id="96" name="Google Shape;96;p21"/>
          <p:cNvSpPr txBox="1"/>
          <p:nvPr>
            <p:ph idx="1" type="body"/>
          </p:nvPr>
        </p:nvSpPr>
        <p:spPr>
          <a:xfrm>
            <a:off x="552450" y="944300"/>
            <a:ext cx="8075400" cy="3478200"/>
          </a:xfrm>
          <a:prstGeom prst="rect">
            <a:avLst/>
          </a:prstGeom>
          <a:noFill/>
          <a:ln>
            <a:noFill/>
          </a:ln>
        </p:spPr>
        <p:txBody>
          <a:bodyPr anchorCtr="0" anchor="t" bIns="45700" lIns="91425" spcFirstLastPara="1" rIns="91425" wrap="square" tIns="45700">
            <a:noAutofit/>
          </a:bodyPr>
          <a:lstStyle/>
          <a:p>
            <a:pPr indent="-317500" lvl="0" marL="457200" rtl="0" algn="l">
              <a:lnSpc>
                <a:spcPct val="115000"/>
              </a:lnSpc>
              <a:spcBef>
                <a:spcPts val="0"/>
              </a:spcBef>
              <a:spcAft>
                <a:spcPts val="0"/>
              </a:spcAft>
              <a:buSzPts val="1400"/>
              <a:buChar char="•"/>
            </a:pPr>
            <a:r>
              <a:rPr b="1" lang="en" sz="1400"/>
              <a:t>Data:</a:t>
            </a:r>
            <a:endParaRPr sz="1400"/>
          </a:p>
          <a:p>
            <a:pPr indent="-317500" lvl="1" marL="914400" rtl="0" algn="l">
              <a:lnSpc>
                <a:spcPct val="115000"/>
              </a:lnSpc>
              <a:spcBef>
                <a:spcPts val="0"/>
              </a:spcBef>
              <a:spcAft>
                <a:spcPts val="0"/>
              </a:spcAft>
              <a:buSzPts val="1400"/>
              <a:buChar char="–"/>
            </a:pPr>
            <a:r>
              <a:rPr lang="en" sz="1400"/>
              <a:t>Next steps:</a:t>
            </a:r>
            <a:endParaRPr sz="1400"/>
          </a:p>
          <a:p>
            <a:pPr indent="-317500" lvl="2" marL="1371600" rtl="0" algn="l">
              <a:lnSpc>
                <a:spcPct val="115000"/>
              </a:lnSpc>
              <a:spcBef>
                <a:spcPts val="0"/>
              </a:spcBef>
              <a:spcAft>
                <a:spcPts val="0"/>
              </a:spcAft>
              <a:buSzPts val="1400"/>
              <a:buChar char="•"/>
            </a:pPr>
            <a:r>
              <a:rPr lang="en" sz="1400"/>
              <a:t>Delete the files you downloaded within 90 days.</a:t>
            </a:r>
            <a:endParaRPr sz="1400"/>
          </a:p>
          <a:p>
            <a:pPr indent="-317500" lvl="2" marL="1371600" rtl="0" algn="l">
              <a:lnSpc>
                <a:spcPct val="115000"/>
              </a:lnSpc>
              <a:spcBef>
                <a:spcPts val="0"/>
              </a:spcBef>
              <a:spcAft>
                <a:spcPts val="0"/>
              </a:spcAft>
              <a:buSzPts val="1400"/>
              <a:buChar char="•"/>
            </a:pPr>
            <a:r>
              <a:rPr lang="en" sz="1400"/>
              <a:t>Find the next database that we are allowed to use.</a:t>
            </a:r>
            <a:endParaRPr sz="1400"/>
          </a:p>
          <a:p>
            <a:pPr indent="-317500" lvl="1" marL="914400" rtl="0" algn="l">
              <a:lnSpc>
                <a:spcPct val="115000"/>
              </a:lnSpc>
              <a:spcBef>
                <a:spcPts val="0"/>
              </a:spcBef>
              <a:spcAft>
                <a:spcPts val="0"/>
              </a:spcAft>
              <a:buSzPts val="1400"/>
              <a:buChar char="–"/>
            </a:pPr>
            <a:r>
              <a:rPr lang="en" sz="1400"/>
              <a:t>What now?</a:t>
            </a:r>
            <a:endParaRPr sz="1400"/>
          </a:p>
          <a:p>
            <a:pPr indent="-317500" lvl="2" marL="1371600" rtl="0" algn="l">
              <a:lnSpc>
                <a:spcPct val="115000"/>
              </a:lnSpc>
              <a:spcBef>
                <a:spcPts val="0"/>
              </a:spcBef>
              <a:spcAft>
                <a:spcPts val="0"/>
              </a:spcAft>
              <a:buSzPts val="1400"/>
              <a:buChar char="•"/>
            </a:pPr>
            <a:r>
              <a:rPr lang="en" sz="1400"/>
              <a:t>We can try LexisNexis TDM (text and data mining)</a:t>
            </a:r>
            <a:endParaRPr sz="1400"/>
          </a:p>
          <a:p>
            <a:pPr indent="-317500" lvl="2" marL="1371600" rtl="0" algn="l">
              <a:lnSpc>
                <a:spcPct val="115000"/>
              </a:lnSpc>
              <a:spcBef>
                <a:spcPts val="0"/>
              </a:spcBef>
              <a:spcAft>
                <a:spcPts val="0"/>
              </a:spcAft>
              <a:buSzPts val="1400"/>
              <a:buChar char="•"/>
            </a:pPr>
            <a:r>
              <a:rPr lang="en" sz="1400"/>
              <a:t>This is what </a:t>
            </a:r>
            <a:r>
              <a:rPr lang="en" sz="1400" u="sng">
                <a:solidFill>
                  <a:schemeClr val="hlink"/>
                </a:solidFill>
                <a:hlinkClick r:id="rId3"/>
              </a:rPr>
              <a:t>MSU offers</a:t>
            </a:r>
            <a:r>
              <a:rPr lang="en" sz="1400"/>
              <a:t>: </a:t>
            </a:r>
            <a:r>
              <a:rPr lang="en" sz="1400" u="sng">
                <a:solidFill>
                  <a:schemeClr val="hlink"/>
                </a:solidFill>
                <a:hlinkClick r:id="rId4"/>
              </a:rPr>
              <a:t>Text Assembler</a:t>
            </a:r>
            <a:endParaRPr sz="1400"/>
          </a:p>
        </p:txBody>
      </p:sp>
      <p:pic>
        <p:nvPicPr>
          <p:cNvPr id="97" name="Google Shape;97;p21" title="Screenshot 2026-03-12 at 3.31.38 PM.png"/>
          <p:cNvPicPr preferRelativeResize="0"/>
          <p:nvPr/>
        </p:nvPicPr>
        <p:blipFill>
          <a:blip r:embed="rId5">
            <a:alphaModFix/>
          </a:blip>
          <a:stretch>
            <a:fillRect/>
          </a:stretch>
        </p:blipFill>
        <p:spPr>
          <a:xfrm>
            <a:off x="18150" y="2742545"/>
            <a:ext cx="9144003" cy="201811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2"/>
          <p:cNvSpPr txBox="1"/>
          <p:nvPr>
            <p:ph type="title"/>
          </p:nvPr>
        </p:nvSpPr>
        <p:spPr>
          <a:xfrm>
            <a:off x="457200" y="154484"/>
            <a:ext cx="8229600" cy="643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 sz="3200"/>
              <a:t>Data Collection - What’s next?</a:t>
            </a:r>
            <a:endParaRPr sz="3200"/>
          </a:p>
        </p:txBody>
      </p:sp>
      <p:sp>
        <p:nvSpPr>
          <p:cNvPr id="103" name="Google Shape;103;p22"/>
          <p:cNvSpPr txBox="1"/>
          <p:nvPr>
            <p:ph idx="1" type="body"/>
          </p:nvPr>
        </p:nvSpPr>
        <p:spPr>
          <a:xfrm>
            <a:off x="552450" y="944300"/>
            <a:ext cx="8075400" cy="3478200"/>
          </a:xfrm>
          <a:prstGeom prst="rect">
            <a:avLst/>
          </a:prstGeom>
          <a:noFill/>
          <a:ln>
            <a:noFill/>
          </a:ln>
        </p:spPr>
        <p:txBody>
          <a:bodyPr anchorCtr="0" anchor="t" bIns="45700" lIns="91425" spcFirstLastPara="1" rIns="91425" wrap="square" tIns="45700">
            <a:noAutofit/>
          </a:bodyPr>
          <a:lstStyle/>
          <a:p>
            <a:pPr indent="-317500" lvl="0" marL="457200" rtl="0" algn="l">
              <a:lnSpc>
                <a:spcPct val="115000"/>
              </a:lnSpc>
              <a:spcBef>
                <a:spcPts val="0"/>
              </a:spcBef>
              <a:spcAft>
                <a:spcPts val="0"/>
              </a:spcAft>
              <a:buSzPts val="1400"/>
              <a:buChar char="•"/>
            </a:pPr>
            <a:r>
              <a:rPr b="1" lang="en" sz="1400"/>
              <a:t>Data:</a:t>
            </a:r>
            <a:endParaRPr sz="1400"/>
          </a:p>
          <a:p>
            <a:pPr indent="-317500" lvl="1" marL="914400" rtl="0" algn="l">
              <a:lnSpc>
                <a:spcPct val="115000"/>
              </a:lnSpc>
              <a:spcBef>
                <a:spcPts val="0"/>
              </a:spcBef>
              <a:spcAft>
                <a:spcPts val="0"/>
              </a:spcAft>
              <a:buSzPts val="1400"/>
              <a:buChar char="–"/>
            </a:pPr>
            <a:r>
              <a:rPr lang="en" sz="1400"/>
              <a:t>We are going to ProQuest TDM Studio: </a:t>
            </a:r>
            <a:r>
              <a:rPr lang="en" sz="1400" u="sng">
                <a:solidFill>
                  <a:schemeClr val="hlink"/>
                </a:solidFill>
                <a:hlinkClick r:id="rId3"/>
              </a:rPr>
              <a:t>https://tdmstudio.proquest.com/home</a:t>
            </a:r>
            <a:r>
              <a:rPr lang="en" sz="1400"/>
              <a:t> </a:t>
            </a:r>
            <a:endParaRPr sz="1400"/>
          </a:p>
          <a:p>
            <a:pPr indent="-317500" lvl="1" marL="914400" rtl="0" algn="l">
              <a:lnSpc>
                <a:spcPct val="115000"/>
              </a:lnSpc>
              <a:spcBef>
                <a:spcPts val="0"/>
              </a:spcBef>
              <a:spcAft>
                <a:spcPts val="0"/>
              </a:spcAft>
              <a:buSzPts val="1400"/>
              <a:buChar char="–"/>
            </a:pPr>
            <a:r>
              <a:rPr lang="en" sz="1400"/>
              <a:t>Register an account using your MSU credentials</a:t>
            </a:r>
            <a:endParaRPr sz="1400"/>
          </a:p>
          <a:p>
            <a:pPr indent="-317500" lvl="2" marL="1371600" rtl="0" algn="l">
              <a:lnSpc>
                <a:spcPct val="115000"/>
              </a:lnSpc>
              <a:spcBef>
                <a:spcPts val="0"/>
              </a:spcBef>
              <a:spcAft>
                <a:spcPts val="0"/>
              </a:spcAft>
              <a:buSzPts val="1400"/>
              <a:buChar char="•"/>
            </a:pPr>
            <a:r>
              <a:rPr lang="en" sz="1400"/>
              <a:t>Navigating Proquest:</a:t>
            </a:r>
            <a:endParaRPr sz="1400"/>
          </a:p>
          <a:p>
            <a:pPr indent="-317500" lvl="3" marL="1828800" rtl="0" algn="l">
              <a:lnSpc>
                <a:spcPct val="115000"/>
              </a:lnSpc>
              <a:spcBef>
                <a:spcPts val="0"/>
              </a:spcBef>
              <a:spcAft>
                <a:spcPts val="0"/>
              </a:spcAft>
              <a:buSzPts val="1400"/>
              <a:buChar char="–"/>
            </a:pPr>
            <a:r>
              <a:rPr lang="en" sz="1400"/>
              <a:t>Search: ALL("data center") AND ALL (Michigan)</a:t>
            </a:r>
            <a:endParaRPr sz="1400"/>
          </a:p>
        </p:txBody>
      </p:sp>
      <p:pic>
        <p:nvPicPr>
          <p:cNvPr id="104" name="Google Shape;104;p22" title="Screenshot 2026-03-12 at 3.38.27 PM.png"/>
          <p:cNvPicPr preferRelativeResize="0"/>
          <p:nvPr/>
        </p:nvPicPr>
        <p:blipFill>
          <a:blip r:embed="rId4">
            <a:alphaModFix/>
          </a:blip>
          <a:stretch>
            <a:fillRect/>
          </a:stretch>
        </p:blipFill>
        <p:spPr>
          <a:xfrm>
            <a:off x="1906675" y="2347601"/>
            <a:ext cx="5521823" cy="270967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3"/>
          <p:cNvSpPr txBox="1"/>
          <p:nvPr>
            <p:ph type="title"/>
          </p:nvPr>
        </p:nvSpPr>
        <p:spPr>
          <a:xfrm>
            <a:off x="457200" y="154484"/>
            <a:ext cx="8229600" cy="643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 sz="3200"/>
              <a:t>Data Collection - What’s next?</a:t>
            </a:r>
            <a:endParaRPr sz="3200"/>
          </a:p>
        </p:txBody>
      </p:sp>
      <p:sp>
        <p:nvSpPr>
          <p:cNvPr id="110" name="Google Shape;110;p23"/>
          <p:cNvSpPr txBox="1"/>
          <p:nvPr>
            <p:ph idx="1" type="body"/>
          </p:nvPr>
        </p:nvSpPr>
        <p:spPr>
          <a:xfrm>
            <a:off x="552450" y="944300"/>
            <a:ext cx="8075400" cy="3478200"/>
          </a:xfrm>
          <a:prstGeom prst="rect">
            <a:avLst/>
          </a:prstGeom>
          <a:noFill/>
          <a:ln>
            <a:noFill/>
          </a:ln>
        </p:spPr>
        <p:txBody>
          <a:bodyPr anchorCtr="0" anchor="t" bIns="45700" lIns="91425" spcFirstLastPara="1" rIns="91425" wrap="square" tIns="45700">
            <a:noAutofit/>
          </a:bodyPr>
          <a:lstStyle/>
          <a:p>
            <a:pPr indent="-317500" lvl="0" marL="457200" rtl="0" algn="l">
              <a:lnSpc>
                <a:spcPct val="115000"/>
              </a:lnSpc>
              <a:spcBef>
                <a:spcPts val="0"/>
              </a:spcBef>
              <a:spcAft>
                <a:spcPts val="0"/>
              </a:spcAft>
              <a:buSzPts val="1400"/>
              <a:buChar char="•"/>
            </a:pPr>
            <a:r>
              <a:rPr b="1" lang="en" sz="1400"/>
              <a:t>It’s all about ProQuest now</a:t>
            </a:r>
            <a:r>
              <a:rPr b="1" lang="en" sz="1400"/>
              <a:t>:</a:t>
            </a:r>
            <a:endParaRPr sz="1400"/>
          </a:p>
          <a:p>
            <a:pPr indent="-317500" lvl="1" marL="914400" rtl="0" algn="l">
              <a:lnSpc>
                <a:spcPct val="115000"/>
              </a:lnSpc>
              <a:spcBef>
                <a:spcPts val="0"/>
              </a:spcBef>
              <a:spcAft>
                <a:spcPts val="0"/>
              </a:spcAft>
              <a:buSzPts val="1400"/>
              <a:buChar char="–"/>
            </a:pPr>
            <a:r>
              <a:rPr lang="en" sz="1400"/>
              <a:t>Let’s start with Workbench:</a:t>
            </a:r>
            <a:endParaRPr sz="1400"/>
          </a:p>
          <a:p>
            <a:pPr indent="-317500" lvl="2" marL="1371600" rtl="0" algn="l">
              <a:lnSpc>
                <a:spcPct val="115000"/>
              </a:lnSpc>
              <a:spcBef>
                <a:spcPts val="0"/>
              </a:spcBef>
              <a:spcAft>
                <a:spcPts val="0"/>
              </a:spcAft>
              <a:buSzPts val="1400"/>
              <a:buChar char="•"/>
            </a:pPr>
            <a:r>
              <a:rPr lang="en" sz="1400"/>
              <a:t>Create a dataset, request it, and wait</a:t>
            </a:r>
            <a:endParaRPr sz="1400"/>
          </a:p>
        </p:txBody>
      </p:sp>
      <p:pic>
        <p:nvPicPr>
          <p:cNvPr id="111" name="Google Shape;111;p23" title="Screenshot 2026-03-12 at 3.41.36 PM.png"/>
          <p:cNvPicPr preferRelativeResize="0"/>
          <p:nvPr/>
        </p:nvPicPr>
        <p:blipFill>
          <a:blip r:embed="rId3">
            <a:alphaModFix/>
          </a:blip>
          <a:stretch>
            <a:fillRect/>
          </a:stretch>
        </p:blipFill>
        <p:spPr>
          <a:xfrm>
            <a:off x="18150" y="2112114"/>
            <a:ext cx="9144003" cy="2352973"/>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4"/>
          <p:cNvSpPr txBox="1"/>
          <p:nvPr>
            <p:ph type="title"/>
          </p:nvPr>
        </p:nvSpPr>
        <p:spPr>
          <a:xfrm>
            <a:off x="457200" y="154484"/>
            <a:ext cx="8229600" cy="643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 sz="3200"/>
              <a:t>Data Collection - What’s next?</a:t>
            </a:r>
            <a:endParaRPr sz="3200"/>
          </a:p>
        </p:txBody>
      </p:sp>
      <p:sp>
        <p:nvSpPr>
          <p:cNvPr id="117" name="Google Shape;117;p24"/>
          <p:cNvSpPr txBox="1"/>
          <p:nvPr>
            <p:ph idx="1" type="body"/>
          </p:nvPr>
        </p:nvSpPr>
        <p:spPr>
          <a:xfrm>
            <a:off x="552450" y="944300"/>
            <a:ext cx="8075400" cy="3478200"/>
          </a:xfrm>
          <a:prstGeom prst="rect">
            <a:avLst/>
          </a:prstGeom>
          <a:noFill/>
          <a:ln>
            <a:noFill/>
          </a:ln>
        </p:spPr>
        <p:txBody>
          <a:bodyPr anchorCtr="0" anchor="t" bIns="45700" lIns="91425" spcFirstLastPara="1" rIns="91425" wrap="square" tIns="45700">
            <a:noAutofit/>
          </a:bodyPr>
          <a:lstStyle/>
          <a:p>
            <a:pPr indent="-317500" lvl="0" marL="457200" rtl="0" algn="l">
              <a:lnSpc>
                <a:spcPct val="115000"/>
              </a:lnSpc>
              <a:spcBef>
                <a:spcPts val="0"/>
              </a:spcBef>
              <a:spcAft>
                <a:spcPts val="0"/>
              </a:spcAft>
              <a:buSzPts val="1400"/>
              <a:buChar char="•"/>
            </a:pPr>
            <a:r>
              <a:rPr b="1" lang="en" sz="1400"/>
              <a:t>It’s all about ProQuest now:</a:t>
            </a:r>
            <a:endParaRPr sz="1400"/>
          </a:p>
          <a:p>
            <a:pPr indent="-317500" lvl="1" marL="914400" rtl="0" algn="l">
              <a:lnSpc>
                <a:spcPct val="115000"/>
              </a:lnSpc>
              <a:spcBef>
                <a:spcPts val="0"/>
              </a:spcBef>
              <a:spcAft>
                <a:spcPts val="0"/>
              </a:spcAft>
              <a:buSzPts val="1400"/>
              <a:buChar char="–"/>
            </a:pPr>
            <a:r>
              <a:rPr lang="en" sz="1400"/>
              <a:t>After you received the dataset, we will test one of their tools (still in BETA version) to receive topics for each articles.</a:t>
            </a:r>
            <a:endParaRPr sz="1400"/>
          </a:p>
        </p:txBody>
      </p:sp>
      <p:pic>
        <p:nvPicPr>
          <p:cNvPr id="118" name="Google Shape;118;p24" title="Screenshot 2026-03-12 at 3.43.22 PM.png"/>
          <p:cNvPicPr preferRelativeResize="0"/>
          <p:nvPr/>
        </p:nvPicPr>
        <p:blipFill>
          <a:blip r:embed="rId3">
            <a:alphaModFix/>
          </a:blip>
          <a:stretch>
            <a:fillRect/>
          </a:stretch>
        </p:blipFill>
        <p:spPr>
          <a:xfrm>
            <a:off x="2580100" y="1746475"/>
            <a:ext cx="3898575" cy="26760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5"/>
          <p:cNvSpPr txBox="1"/>
          <p:nvPr>
            <p:ph type="title"/>
          </p:nvPr>
        </p:nvSpPr>
        <p:spPr>
          <a:xfrm>
            <a:off x="457200" y="154484"/>
            <a:ext cx="8229600" cy="643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 sz="3200"/>
              <a:t>Data Collection - What’s next?</a:t>
            </a:r>
            <a:endParaRPr sz="3200"/>
          </a:p>
        </p:txBody>
      </p:sp>
      <p:sp>
        <p:nvSpPr>
          <p:cNvPr id="124" name="Google Shape;124;p25"/>
          <p:cNvSpPr txBox="1"/>
          <p:nvPr>
            <p:ph idx="1" type="body"/>
          </p:nvPr>
        </p:nvSpPr>
        <p:spPr>
          <a:xfrm>
            <a:off x="552450" y="944300"/>
            <a:ext cx="8075400" cy="3478200"/>
          </a:xfrm>
          <a:prstGeom prst="rect">
            <a:avLst/>
          </a:prstGeom>
          <a:noFill/>
          <a:ln>
            <a:noFill/>
          </a:ln>
        </p:spPr>
        <p:txBody>
          <a:bodyPr anchorCtr="0" anchor="t" bIns="45700" lIns="91425" spcFirstLastPara="1" rIns="91425" wrap="square" tIns="45700">
            <a:noAutofit/>
          </a:bodyPr>
          <a:lstStyle/>
          <a:p>
            <a:pPr indent="-317500" lvl="0" marL="457200" rtl="0" algn="l">
              <a:lnSpc>
                <a:spcPct val="115000"/>
              </a:lnSpc>
              <a:spcBef>
                <a:spcPts val="0"/>
              </a:spcBef>
              <a:spcAft>
                <a:spcPts val="0"/>
              </a:spcAft>
              <a:buSzPts val="1400"/>
              <a:buChar char="•"/>
            </a:pPr>
            <a:r>
              <a:rPr b="1" lang="en" sz="1400"/>
              <a:t>It’s all about ProQuest now:</a:t>
            </a:r>
            <a:endParaRPr sz="1400"/>
          </a:p>
          <a:p>
            <a:pPr indent="-317500" lvl="1" marL="914400" rtl="0" algn="l">
              <a:lnSpc>
                <a:spcPct val="115000"/>
              </a:lnSpc>
              <a:spcBef>
                <a:spcPts val="0"/>
              </a:spcBef>
              <a:spcAft>
                <a:spcPts val="0"/>
              </a:spcAft>
              <a:buSzPts val="1400"/>
              <a:buChar char="–"/>
            </a:pPr>
            <a:r>
              <a:rPr lang="en" sz="1400"/>
              <a:t>Create the same database in </a:t>
            </a:r>
            <a:r>
              <a:rPr lang="en" sz="1400"/>
              <a:t>their</a:t>
            </a:r>
            <a:r>
              <a:rPr lang="en" sz="1400"/>
              <a:t> “Visualization” space</a:t>
            </a:r>
            <a:endParaRPr sz="1400"/>
          </a:p>
        </p:txBody>
      </p:sp>
      <p:pic>
        <p:nvPicPr>
          <p:cNvPr id="125" name="Google Shape;125;p25" title="Screenshot 2026-03-12 at 3.44.25 PM.png"/>
          <p:cNvPicPr preferRelativeResize="0"/>
          <p:nvPr/>
        </p:nvPicPr>
        <p:blipFill>
          <a:blip r:embed="rId3">
            <a:alphaModFix/>
          </a:blip>
          <a:stretch>
            <a:fillRect/>
          </a:stretch>
        </p:blipFill>
        <p:spPr>
          <a:xfrm>
            <a:off x="1215413" y="1810472"/>
            <a:ext cx="6749476" cy="23597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6"/>
          <p:cNvSpPr txBox="1"/>
          <p:nvPr>
            <p:ph type="title"/>
          </p:nvPr>
        </p:nvSpPr>
        <p:spPr>
          <a:xfrm>
            <a:off x="457200" y="154484"/>
            <a:ext cx="8229600" cy="643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 sz="3200"/>
              <a:t>Data Collection - What’s next?</a:t>
            </a:r>
            <a:endParaRPr sz="3200"/>
          </a:p>
        </p:txBody>
      </p:sp>
      <p:sp>
        <p:nvSpPr>
          <p:cNvPr id="131" name="Google Shape;131;p26"/>
          <p:cNvSpPr txBox="1"/>
          <p:nvPr>
            <p:ph idx="1" type="body"/>
          </p:nvPr>
        </p:nvSpPr>
        <p:spPr>
          <a:xfrm>
            <a:off x="552450" y="944300"/>
            <a:ext cx="8075400" cy="3478200"/>
          </a:xfrm>
          <a:prstGeom prst="rect">
            <a:avLst/>
          </a:prstGeom>
          <a:noFill/>
          <a:ln>
            <a:noFill/>
          </a:ln>
        </p:spPr>
        <p:txBody>
          <a:bodyPr anchorCtr="0" anchor="t" bIns="45700" lIns="91425" spcFirstLastPara="1" rIns="91425" wrap="square" tIns="45700">
            <a:noAutofit/>
          </a:bodyPr>
          <a:lstStyle/>
          <a:p>
            <a:pPr indent="-317500" lvl="0" marL="457200" rtl="0" algn="l">
              <a:lnSpc>
                <a:spcPct val="115000"/>
              </a:lnSpc>
              <a:spcBef>
                <a:spcPts val="0"/>
              </a:spcBef>
              <a:spcAft>
                <a:spcPts val="0"/>
              </a:spcAft>
              <a:buSzPts val="1400"/>
              <a:buChar char="•"/>
            </a:pPr>
            <a:r>
              <a:rPr b="1" lang="en" sz="1400"/>
              <a:t>It’s all about ProQuest now:</a:t>
            </a:r>
            <a:endParaRPr sz="1400"/>
          </a:p>
          <a:p>
            <a:pPr indent="-317500" lvl="1" marL="914400" rtl="0" algn="l">
              <a:lnSpc>
                <a:spcPct val="115000"/>
              </a:lnSpc>
              <a:spcBef>
                <a:spcPts val="0"/>
              </a:spcBef>
              <a:spcAft>
                <a:spcPts val="0"/>
              </a:spcAft>
              <a:buSzPts val="1400"/>
              <a:buChar char="–"/>
            </a:pPr>
            <a:r>
              <a:rPr lang="en" sz="1400"/>
              <a:t>Create the same database in their “Visualization” space, and test the topic modeling function.</a:t>
            </a:r>
            <a:endParaRPr sz="1400"/>
          </a:p>
        </p:txBody>
      </p:sp>
      <p:pic>
        <p:nvPicPr>
          <p:cNvPr id="132" name="Google Shape;132;p26" title="Screenshot 2026-03-12 at 3.46.57 PM.png"/>
          <p:cNvPicPr preferRelativeResize="0"/>
          <p:nvPr/>
        </p:nvPicPr>
        <p:blipFill>
          <a:blip r:embed="rId3">
            <a:alphaModFix/>
          </a:blip>
          <a:stretch>
            <a:fillRect/>
          </a:stretch>
        </p:blipFill>
        <p:spPr>
          <a:xfrm>
            <a:off x="1380963" y="1809401"/>
            <a:ext cx="6382075" cy="27828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7"/>
          <p:cNvSpPr txBox="1"/>
          <p:nvPr>
            <p:ph type="title"/>
          </p:nvPr>
        </p:nvSpPr>
        <p:spPr>
          <a:xfrm>
            <a:off x="457200" y="154484"/>
            <a:ext cx="8229600" cy="643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 sz="2800"/>
              <a:t>Week 8 Assignment</a:t>
            </a:r>
            <a:endParaRPr sz="2800"/>
          </a:p>
        </p:txBody>
      </p:sp>
      <p:sp>
        <p:nvSpPr>
          <p:cNvPr id="138" name="Google Shape;138;p27"/>
          <p:cNvSpPr txBox="1"/>
          <p:nvPr>
            <p:ph idx="1" type="body"/>
          </p:nvPr>
        </p:nvSpPr>
        <p:spPr>
          <a:xfrm>
            <a:off x="457200" y="900125"/>
            <a:ext cx="8229600" cy="3764100"/>
          </a:xfrm>
          <a:prstGeom prst="rect">
            <a:avLst/>
          </a:prstGeom>
          <a:noFill/>
          <a:ln>
            <a:noFill/>
          </a:ln>
        </p:spPr>
        <p:txBody>
          <a:bodyPr anchorCtr="0" anchor="t" bIns="45700" lIns="91425" spcFirstLastPara="1" rIns="91425" wrap="square" tIns="45700">
            <a:noAutofit/>
          </a:bodyPr>
          <a:lstStyle/>
          <a:p>
            <a:pPr indent="-355600" lvl="0" marL="457200" rtl="0" algn="l">
              <a:lnSpc>
                <a:spcPct val="115000"/>
              </a:lnSpc>
              <a:spcBef>
                <a:spcPts val="0"/>
              </a:spcBef>
              <a:spcAft>
                <a:spcPts val="0"/>
              </a:spcAft>
              <a:buSzPts val="2000"/>
              <a:buChar char="•"/>
            </a:pPr>
            <a:r>
              <a:rPr lang="en" sz="2000"/>
              <a:t>Examine the results generated from ProQuest’s built in function of topic modeling.</a:t>
            </a:r>
            <a:endParaRPr sz="2000"/>
          </a:p>
        </p:txBody>
      </p:sp>
    </p:spTree>
  </p:cSld>
  <p:clrMapOvr>
    <a:masterClrMapping/>
  </p:clrMapOvr>
</p:sld>
</file>

<file path=ppt/theme/theme1.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