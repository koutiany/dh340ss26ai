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2F869D-4E93-4E45-9C9B-A37670D16D2F}">
  <a:tblStyle styleId="{5A2F869D-4E93-4E45-9C9B-A37670D16D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dbb0b52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adbb0b52c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dbb0b5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ICER’s data center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centers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around the world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Michigan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Lansing (hopefully not)</a:t>
            </a:r>
            <a:endParaRPr/>
          </a:p>
        </p:txBody>
      </p:sp>
      <p:sp>
        <p:nvSpPr>
          <p:cNvPr id="73" name="Google Shape;73;g3badbb0b52c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9914cce0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https://www.epa.gov/ghgemissions/overview-greenhouse-gases</a:t>
            </a:r>
            <a:endParaRPr/>
          </a:p>
        </p:txBody>
      </p:sp>
      <p:sp>
        <p:nvSpPr>
          <p:cNvPr id="79" name="Google Shape;79;g3c9914cce0c_0_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ad7a092d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cad7a092d9_0_2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ad7a092d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https://huggingface.co/spaces/genai-impact/ecologits-calculator</a:t>
            </a:r>
            <a:endParaRPr/>
          </a:p>
        </p:txBody>
      </p:sp>
      <p:sp>
        <p:nvSpPr>
          <p:cNvPr id="94" name="Google Shape;94;g3cad7a092d9_0_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ad7a092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cad7a092d9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9914cce0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c9914cce0c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9198a5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b9198a577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15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818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Michigan State University logo" id="53" name="Google Shape;5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43313" y="4908517"/>
            <a:ext cx="1394217" cy="1176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huggingface.co/spaces/genai-impact/ecologits-calculator" TargetMode="External"/><Relationship Id="rId4" Type="http://schemas.openxmlformats.org/officeDocument/2006/relationships/hyperlink" Target="https://huggingface.co/spaces/genai-impact/ecologits-calculator" TargetMode="External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uggingface.co/spaces/genai-impact/ecologits-calculator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datacentermap.com/datacenters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document/d/1BkJCCoY399DaIk_kFotbcfMQdAXomybCcOESNl1GH6E/edit?usp=sharing" TargetMode="External"/><Relationship Id="rId4" Type="http://schemas.openxmlformats.org/officeDocument/2006/relationships/hyperlink" Target="https://edraofmi.org/ai-data-centers-action" TargetMode="External"/><Relationship Id="rId5" Type="http://schemas.openxmlformats.org/officeDocument/2006/relationships/hyperlink" Target="https://youtu.be/DGjj7wDYaiI?si=rEgMyLIHkJ4SIgaW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a Session A</a:t>
            </a:r>
            <a:endParaRPr/>
          </a:p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</a:pPr>
            <a:r>
              <a:rPr lang="en" sz="3000"/>
              <a:t>Tuesday, Feb 24 2026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457200" y="900125"/>
            <a:ext cx="6967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Environmental Impact of AI: Energy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Data Centers: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Data centers in our lives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Data centers in Lansing and in Saline Township</a:t>
            </a:r>
            <a:endParaRPr sz="20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000"/>
              <a:t>Week 7/Spring Break Assignmen</a:t>
            </a:r>
            <a:r>
              <a:rPr lang="en" sz="2200"/>
              <a:t>t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Environmental Impact of AI</a:t>
            </a:r>
            <a:endParaRPr sz="3200"/>
          </a:p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552450" y="900125"/>
            <a:ext cx="72165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 sz="1400"/>
              <a:t>GHG Emissions: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/>
              <a:t>Gases that trap heat in the atmosphere are called greenhouse gases. The main type of gas is carbon dioxide (CO₂). It enters the atmosphere through burning fossil fuels, solid waste, etc.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/>
              <a:t>The greenhouse gas allow sunlight to enter the atmosphere but prevent heat from </a:t>
            </a:r>
            <a:r>
              <a:rPr lang="en" sz="1400"/>
              <a:t>escaping</a:t>
            </a:r>
            <a:r>
              <a:rPr lang="en" sz="1400"/>
              <a:t>, which </a:t>
            </a:r>
            <a:r>
              <a:rPr lang="en" sz="1400"/>
              <a:t>leads</a:t>
            </a:r>
            <a:r>
              <a:rPr lang="en" sz="1400"/>
              <a:t> to </a:t>
            </a:r>
            <a:r>
              <a:rPr lang="en" sz="1400"/>
              <a:t>global</a:t>
            </a:r>
            <a:r>
              <a:rPr lang="en" sz="1400"/>
              <a:t> warming.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 sz="1400"/>
              <a:t>Where does GHG come from?</a:t>
            </a:r>
            <a:endParaRPr b="1"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/>
              <a:t>Energy production (electricity), transportation, </a:t>
            </a:r>
            <a:r>
              <a:rPr lang="en" sz="1400"/>
              <a:t>industry, etc.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 sz="1400"/>
              <a:t>Energy</a:t>
            </a:r>
            <a:r>
              <a:rPr lang="en" sz="1400"/>
              <a:t> used by data centers: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EcoLogits</a:t>
            </a:r>
            <a:r>
              <a:rPr lang="en" sz="1400"/>
              <a:t> and its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calculator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83" name="Google Shape;8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6550" y="0"/>
            <a:ext cx="1777450" cy="16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Environmental Impact of AI</a:t>
            </a:r>
            <a:endParaRPr sz="3200"/>
          </a:p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552450" y="3046675"/>
            <a:ext cx="7834800" cy="12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 sz="1400"/>
              <a:t>Terms:</a:t>
            </a:r>
            <a:endParaRPr b="1"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/>
              <a:t>mWh: milliwatt-hour, = 0.001 watt-hour. A smartphone battery is about 10,000–15,000 mWh (10–15 Wh). 62.4 mWh is 0.6% of 1% of a phone battery.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/>
              <a:t>mgCO₂eq: megagrams of carbon dioxide equivalent. A Google search: 0.2–1 g CO₂ (200–1000 mg).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6550" y="0"/>
            <a:ext cx="1777450" cy="16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0" title="Screenshot 2026-02-24 at 3.07.5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825" y="950084"/>
            <a:ext cx="2771838" cy="1944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Environmental Impact of AI</a:t>
            </a:r>
            <a:endParaRPr sz="3200"/>
          </a:p>
        </p:txBody>
      </p:sp>
      <p:sp>
        <p:nvSpPr>
          <p:cNvPr id="97" name="Google Shape;97;p21"/>
          <p:cNvSpPr txBox="1"/>
          <p:nvPr>
            <p:ph idx="1" type="body"/>
          </p:nvPr>
        </p:nvSpPr>
        <p:spPr>
          <a:xfrm>
            <a:off x="457200" y="860250"/>
            <a:ext cx="5170200" cy="2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 sz="1400"/>
              <a:t>What are the goals of this?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 sz="1400"/>
              <a:t>How to </a:t>
            </a:r>
            <a:r>
              <a:rPr b="1" lang="en" sz="1400" u="sng">
                <a:solidFill>
                  <a:schemeClr val="hlink"/>
                </a:solidFill>
                <a:hlinkClick r:id="rId3"/>
              </a:rPr>
              <a:t>reduce AI environmental impact</a:t>
            </a:r>
            <a:r>
              <a:rPr b="1" lang="en" sz="1400"/>
              <a:t>?</a:t>
            </a:r>
            <a:endParaRPr b="1" sz="1800"/>
          </a:p>
        </p:txBody>
      </p:sp>
      <p:pic>
        <p:nvPicPr>
          <p:cNvPr id="98" name="Google Shape;9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8350" y="295700"/>
            <a:ext cx="1105700" cy="10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3650" y="1068025"/>
            <a:ext cx="1295800" cy="12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9800" y="1374662"/>
            <a:ext cx="987525" cy="9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1550" y="46952"/>
            <a:ext cx="1350926" cy="1350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1" title="Screenshot 2026-02-24 at 3.16.06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5125" y="1485725"/>
            <a:ext cx="4381749" cy="326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</a:t>
            </a:r>
            <a:r>
              <a:rPr lang="en" sz="3200"/>
              <a:t>ata Centers in Our Lives</a:t>
            </a:r>
            <a:endParaRPr sz="3200"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457200" y="962225"/>
            <a:ext cx="78990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Activity: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We are adding a table to our presentation poster and on our future website. Complete the table below based on information found on this website: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data centers map</a:t>
            </a:r>
            <a:endParaRPr sz="1800"/>
          </a:p>
        </p:txBody>
      </p:sp>
      <p:graphicFrame>
        <p:nvGraphicFramePr>
          <p:cNvPr id="109" name="Google Shape;109;p22"/>
          <p:cNvGraphicFramePr/>
          <p:nvPr/>
        </p:nvGraphicFramePr>
        <p:xfrm>
          <a:off x="558225" y="230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{5A2F869D-4E93-4E45-9C9B-A37670D16D2F}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Virginia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570 in the whole state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 in just the one town Ashburn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Michigan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 in Lansing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New york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 just in NYC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California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64 in Santa Clara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Local Data Centers</a:t>
            </a:r>
            <a:endParaRPr sz="3200"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552450" y="944300"/>
            <a:ext cx="78990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Class activity</a:t>
            </a:r>
            <a:r>
              <a:rPr lang="en" sz="1800"/>
              <a:t>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Lansing: proposed by Deep Green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Saline Township: proposed by Open AI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Take notes of your findings in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this document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Societal</a:t>
            </a:r>
            <a:r>
              <a:rPr lang="en" sz="1800"/>
              <a:t> response: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Economic Development Responsibility Alliance of Michigan (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EDRA</a:t>
            </a:r>
            <a:r>
              <a:rPr lang="en" sz="1800"/>
              <a:t>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A </a:t>
            </a:r>
            <a:r>
              <a:rPr lang="en" sz="1800" u="sng">
                <a:solidFill>
                  <a:schemeClr val="hlink"/>
                </a:solidFill>
                <a:hlinkClick r:id="rId5"/>
              </a:rPr>
              <a:t>documentary</a:t>
            </a:r>
            <a:r>
              <a:rPr lang="en" sz="1800"/>
              <a:t> on Meta’s data center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Week 7/Spring Break Assignment</a:t>
            </a:r>
            <a:endParaRPr sz="2800"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457200" y="900125"/>
            <a:ext cx="82296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Data collection for our final project: Nexis Academic database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