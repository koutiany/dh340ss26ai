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dbb0b52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adbb0b52c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dbb0b5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badbb0b52c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9cbed16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b9cbed162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bafa4ad2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bbafa4ad2d_0_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bafa4ad2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bbafa4ad2d_0_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bafa4ad2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bbafa4ad2d_0_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bafa4ad2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bbafa4ad2d_0_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bafa4ad2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bbafa4ad2d_0_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f9fffb5d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f9fffb5dc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f9fffb5d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bf9fffb5dc_0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f9fffb5d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bf9fffb5dc_0_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f9fffb5d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bf9fffb5dc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9fffb5d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bf9fffb5dc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9198a5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b9198a577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15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818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Michigan State University logo" id="53" name="Google Shape;5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43313" y="4908517"/>
            <a:ext cx="1394217" cy="1176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icer.msu.edu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3 Session A</a:t>
            </a:r>
            <a:endParaRPr/>
          </a:p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</a:pPr>
            <a:r>
              <a:rPr lang="en" sz="3000"/>
              <a:t>Tuesday, Jan 26 2026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457200" y="900125"/>
            <a:ext cx="6967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" sz="2500"/>
              <a:t>Review: The two phases of a LLM &amp; two pipelines of a LLM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" sz="2500"/>
              <a:t>Setting Up and Exploring Models Together:</a:t>
            </a:r>
            <a:endParaRPr sz="2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500"/>
              <a:t>“Where does AI actually run?”</a:t>
            </a:r>
            <a:endParaRPr i="1"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" sz="2500"/>
              <a:t>The Physicality of AI Systems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" sz="2500"/>
              <a:t>Week 3 Assignment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Review</a:t>
            </a:r>
            <a:endParaRPr sz="3600"/>
          </a:p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457200" y="900125"/>
            <a:ext cx="69678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LLMs have two phases: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Phase A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Phase B</a:t>
            </a:r>
            <a:endParaRPr/>
          </a:p>
        </p:txBody>
      </p:sp>
      <p:pic>
        <p:nvPicPr>
          <p:cNvPr id="83" name="Google Shape;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7527" y="485775"/>
            <a:ext cx="2223850" cy="163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4500" y="487400"/>
            <a:ext cx="2503024" cy="16311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457200" y="1916100"/>
            <a:ext cx="6967800" cy="24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Ture or False?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Tokenization happens at both phases!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Tokens and characters are pretty much the same thing.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Review</a:t>
            </a:r>
            <a:endParaRPr sz="3600"/>
          </a:p>
        </p:txBody>
      </p:sp>
      <p:sp>
        <p:nvSpPr>
          <p:cNvPr id="91" name="Google Shape;91;p20"/>
          <p:cNvSpPr txBox="1"/>
          <p:nvPr>
            <p:ph idx="1" type="body"/>
          </p:nvPr>
        </p:nvSpPr>
        <p:spPr>
          <a:xfrm>
            <a:off x="457200" y="900125"/>
            <a:ext cx="8524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LLMs don’t retrieve information, they generate!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BUT gen AI tools are different! They can do both! RAG (Retrieval-Augmented Generation) helps optimize the output of LLMs.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“Where does AI actually run?”</a:t>
            </a:r>
            <a:endParaRPr sz="3600"/>
          </a:p>
        </p:txBody>
      </p:sp>
      <p:sp>
        <p:nvSpPr>
          <p:cNvPr id="97" name="Google Shape;97;p21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Activity I: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Draw a visual representation of this statement “most people use AI through the cloud.”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Draw what you think happens when you ask a genAI tool (like ChatGPT, Copilot, etc.) a question.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What does the “Cloud” actually mean?</a:t>
            </a:r>
            <a:endParaRPr sz="3300"/>
          </a:p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Activity II: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Search the word “Cloud” in your preferred browser. What are some key terms you are seeing?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Work with each other, and come up with a definition for cloud in the context of this class.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What does the “Cloud” actually mean?</a:t>
            </a:r>
            <a:endParaRPr sz="3300"/>
          </a:p>
        </p:txBody>
      </p:sp>
      <p:pic>
        <p:nvPicPr>
          <p:cNvPr id="109" name="Google Shape;1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3" y="797675"/>
            <a:ext cx="5410200" cy="405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What does the “Cloud” actually mean?</a:t>
            </a:r>
            <a:endParaRPr sz="3300"/>
          </a:p>
        </p:txBody>
      </p:sp>
      <p:sp>
        <p:nvSpPr>
          <p:cNvPr id="115" name="Google Shape;115;p24"/>
          <p:cNvSpPr txBox="1"/>
          <p:nvPr>
            <p:ph idx="1" type="body"/>
          </p:nvPr>
        </p:nvSpPr>
        <p:spPr>
          <a:xfrm>
            <a:off x="457200" y="900125"/>
            <a:ext cx="5638800" cy="3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From my point of view: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Cloud is </a:t>
            </a:r>
            <a:r>
              <a:rPr lang="en" sz="2000" u="sng"/>
              <a:t>someone else</a:t>
            </a:r>
            <a:r>
              <a:rPr lang="en" sz="2000"/>
              <a:t>’s </a:t>
            </a:r>
            <a:r>
              <a:rPr lang="en" sz="2000" u="sng"/>
              <a:t>computer/server </a:t>
            </a:r>
            <a:r>
              <a:rPr lang="en" sz="2000"/>
              <a:t>(server is a powerful computer), and I can have access to via internet.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There are multiple Cloud providers (Google, Microsoft, etc.).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Some terms: data center, server, cloud computing, etc.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Bottom line: GPT-5.2 doesn’t live in the air; it lives in a box (or racks of boxes) of GPUs somewhere in Iowa (maybe).</a:t>
            </a:r>
            <a:endParaRPr sz="2000"/>
          </a:p>
        </p:txBody>
      </p:sp>
      <p:pic>
        <p:nvPicPr>
          <p:cNvPr id="116" name="Google Shape;11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7450" y="1826384"/>
            <a:ext cx="2743201" cy="1832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“Where does AI actually run?”</a:t>
            </a:r>
            <a:endParaRPr sz="3600"/>
          </a:p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So what happens when I actually send a question to a genAI chatbot like ChatGPT?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Let’s Map Out the Ecosystem</a:t>
            </a:r>
            <a:endParaRPr sz="3600"/>
          </a:p>
        </p:txBody>
      </p:sp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Activity: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Build a physical map of the journey your prompt takes: from your laptop all the way to the </a:t>
            </a:r>
            <a:r>
              <a:rPr lang="en" sz="2200"/>
              <a:t>machine</a:t>
            </a:r>
            <a:r>
              <a:rPr lang="en" sz="2200"/>
              <a:t> that runs the model. Place these cards on the table in that order.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Let’s Map Out the Ecosystem</a:t>
            </a:r>
            <a:endParaRPr sz="3600"/>
          </a:p>
        </p:txBody>
      </p:sp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457200" y="90012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From my point of view: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AI does have carbon footprint.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People build it; people maintain it. It costs $, water, labor.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Nothing lives “in the cloud”. It lives in a building with machines.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Oh wait… what does MSU have?</a:t>
            </a:r>
            <a:endParaRPr sz="3600"/>
          </a:p>
        </p:txBody>
      </p:sp>
      <p:sp>
        <p:nvSpPr>
          <p:cNvPr id="140" name="Google Shape;140;p28"/>
          <p:cNvSpPr txBox="1"/>
          <p:nvPr>
            <p:ph idx="1" type="body"/>
          </p:nvPr>
        </p:nvSpPr>
        <p:spPr>
          <a:xfrm>
            <a:off x="457200" y="91917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ChatGPT runs far away in Des Moines Iowa. But MLStudio that we are going to use runs right here at MSU on </a:t>
            </a:r>
            <a:r>
              <a:rPr lang="en" sz="2200" u="sng">
                <a:solidFill>
                  <a:schemeClr val="hlink"/>
                </a:solidFill>
                <a:hlinkClick r:id="rId3"/>
              </a:rPr>
              <a:t>ICER’s</a:t>
            </a:r>
            <a:r>
              <a:rPr lang="en" sz="2200"/>
              <a:t> hardware.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MSU Campus HPC vs Commercial Cloud: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Shorter network path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Smaller and open models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Job scheduled for specific GPUs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Local policies for power and cooling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LMStudio!</a:t>
            </a:r>
            <a:endParaRPr sz="3600"/>
          </a:p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457200" y="919175"/>
            <a:ext cx="82296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ICER MLStudio on Campus HPCC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47" name="Google Shape;147;p29" title="Screenshot 2026-01-27 at 3.23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341" y="1337975"/>
            <a:ext cx="4949325" cy="35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3 Assignment</a:t>
            </a:r>
            <a:endParaRPr/>
          </a:p>
        </p:txBody>
      </p:sp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457200" y="900125"/>
            <a:ext cx="82296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Select a language model on LMStudio, explain why you picked this one (short rationale + screenshot).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