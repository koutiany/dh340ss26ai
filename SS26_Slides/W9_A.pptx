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adbb0b52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badbb0b52c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adbb0b52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badbb0b52c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f986accc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cf986accca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0ae5d03c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0ae5d03c0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0ae5d03c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d0ae5d03c0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0ae5d03c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d0ae5d03c0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9198a57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b9198a577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Clr>
                <a:srgbClr val="3F3F3F"/>
              </a:buClr>
              <a:buSzPts val="3200"/>
              <a:buNone/>
              <a:defRPr>
                <a:solidFill>
                  <a:srgbClr val="3F3F3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 name="Shape 57"/>
        <p:cNvGrpSpPr/>
        <p:nvPr/>
      </p:nvGrpSpPr>
      <p:grpSpPr>
        <a:xfrm>
          <a:off x="0" y="0"/>
          <a:ext cx="0" cy="0"/>
          <a:chOff x="0" y="0"/>
          <a:chExt cx="0" cy="0"/>
        </a:xfrm>
      </p:grpSpPr>
      <p:sp>
        <p:nvSpPr>
          <p:cNvPr id="58" name="Google Shape;58;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0" name="Google Shape;60;p15"/>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p:nvPr>
            <p:ph idx="2" type="pic"/>
          </p:nvPr>
        </p:nvSpPr>
        <p:spPr>
          <a:xfrm>
            <a:off x="1792288" y="459581"/>
            <a:ext cx="5486400" cy="3086100"/>
          </a:xfrm>
          <a:prstGeom prst="rect">
            <a:avLst/>
          </a:prstGeom>
          <a:noFill/>
          <a:ln>
            <a:noFill/>
          </a:ln>
        </p:spPr>
      </p:sp>
      <p:sp>
        <p:nvSpPr>
          <p:cNvPr id="64" name="Google Shape;64;p16"/>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3F3F3F"/>
              </a:buClr>
              <a:buSzPts val="1400"/>
              <a:buNone/>
              <a:defRPr sz="1400">
                <a:solidFill>
                  <a:srgbClr val="3F3F3F"/>
                </a:solidFill>
              </a:defRPr>
            </a:lvl1pPr>
            <a:lvl2pPr indent="-228600" lvl="1" marL="914400" algn="l">
              <a:spcBef>
                <a:spcPts val="240"/>
              </a:spcBef>
              <a:spcAft>
                <a:spcPts val="0"/>
              </a:spcAft>
              <a:buClr>
                <a:srgbClr val="3F3F3F"/>
              </a:buClr>
              <a:buSzPts val="1200"/>
              <a:buNone/>
              <a:defRPr sz="1200"/>
            </a:lvl2pPr>
            <a:lvl3pPr indent="-228600" lvl="2" marL="1371600" algn="l">
              <a:spcBef>
                <a:spcPts val="200"/>
              </a:spcBef>
              <a:spcAft>
                <a:spcPts val="0"/>
              </a:spcAft>
              <a:buClr>
                <a:srgbClr val="3F3F3F"/>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i="0" sz="4400" u="none" cap="none" strike="noStrike">
                <a:solidFill>
                  <a:srgbClr val="008183"/>
                </a:solidFill>
                <a:latin typeface="Arial"/>
                <a:ea typeface="Arial"/>
                <a:cs typeface="Arial"/>
                <a:sym typeface="Arial"/>
              </a:defRPr>
            </a:lvl1pPr>
            <a:lvl2pPr lvl="1" marR="0" algn="l">
              <a:spcBef>
                <a:spcPts val="0"/>
              </a:spcBef>
              <a:spcAft>
                <a:spcPts val="0"/>
              </a:spcAft>
              <a:buSzPts val="1400"/>
              <a:buNone/>
              <a:defRPr b="1" i="0" sz="4400" u="none" cap="none" strike="noStrike">
                <a:solidFill>
                  <a:srgbClr val="6BBD1B"/>
                </a:solidFill>
                <a:latin typeface="Arial"/>
                <a:ea typeface="Arial"/>
                <a:cs typeface="Arial"/>
                <a:sym typeface="Arial"/>
              </a:defRPr>
            </a:lvl2pPr>
            <a:lvl3pPr lvl="2" marR="0" algn="l">
              <a:spcBef>
                <a:spcPts val="0"/>
              </a:spcBef>
              <a:spcAft>
                <a:spcPts val="0"/>
              </a:spcAft>
              <a:buSzPts val="1400"/>
              <a:buNone/>
              <a:defRPr b="1" i="0" sz="4400" u="none" cap="none" strike="noStrike">
                <a:solidFill>
                  <a:srgbClr val="6BBD1B"/>
                </a:solidFill>
                <a:latin typeface="Arial"/>
                <a:ea typeface="Arial"/>
                <a:cs typeface="Arial"/>
                <a:sym typeface="Arial"/>
              </a:defRPr>
            </a:lvl3pPr>
            <a:lvl4pPr lvl="3" marR="0" algn="l">
              <a:spcBef>
                <a:spcPts val="0"/>
              </a:spcBef>
              <a:spcAft>
                <a:spcPts val="0"/>
              </a:spcAft>
              <a:buSzPts val="1400"/>
              <a:buNone/>
              <a:defRPr b="1" i="0" sz="4400" u="none" cap="none" strike="noStrike">
                <a:solidFill>
                  <a:srgbClr val="6BBD1B"/>
                </a:solidFill>
                <a:latin typeface="Arial"/>
                <a:ea typeface="Arial"/>
                <a:cs typeface="Arial"/>
                <a:sym typeface="Arial"/>
              </a:defRPr>
            </a:lvl4pPr>
            <a:lvl5pPr lvl="4" marR="0" algn="l">
              <a:spcBef>
                <a:spcPts val="0"/>
              </a:spcBef>
              <a:spcAft>
                <a:spcPts val="0"/>
              </a:spcAft>
              <a:buSzPts val="1400"/>
              <a:buNone/>
              <a:defRPr b="1" i="0" sz="4400" u="none" cap="none" strike="noStrike">
                <a:solidFill>
                  <a:srgbClr val="6BBD1B"/>
                </a:solidFill>
                <a:latin typeface="Arial"/>
                <a:ea typeface="Arial"/>
                <a:cs typeface="Arial"/>
                <a:sym typeface="Arial"/>
              </a:defRPr>
            </a:lvl5pPr>
            <a:lvl6pPr lvl="5" marR="0" algn="l">
              <a:spcBef>
                <a:spcPts val="0"/>
              </a:spcBef>
              <a:spcAft>
                <a:spcPts val="0"/>
              </a:spcAft>
              <a:buSzPts val="1400"/>
              <a:buNone/>
              <a:defRPr b="1" i="0" sz="4400" u="none" cap="none" strike="noStrike">
                <a:solidFill>
                  <a:srgbClr val="6BBD1B"/>
                </a:solidFill>
                <a:latin typeface="Arial"/>
                <a:ea typeface="Arial"/>
                <a:cs typeface="Arial"/>
                <a:sym typeface="Arial"/>
              </a:defRPr>
            </a:lvl6pPr>
            <a:lvl7pPr lvl="6" marR="0" algn="l">
              <a:spcBef>
                <a:spcPts val="0"/>
              </a:spcBef>
              <a:spcAft>
                <a:spcPts val="0"/>
              </a:spcAft>
              <a:buSzPts val="1400"/>
              <a:buNone/>
              <a:defRPr b="1" i="0" sz="4400" u="none" cap="none" strike="noStrike">
                <a:solidFill>
                  <a:srgbClr val="6BBD1B"/>
                </a:solidFill>
                <a:latin typeface="Arial"/>
                <a:ea typeface="Arial"/>
                <a:cs typeface="Arial"/>
                <a:sym typeface="Arial"/>
              </a:defRPr>
            </a:lvl7pPr>
            <a:lvl8pPr lvl="7" marR="0" algn="l">
              <a:spcBef>
                <a:spcPts val="0"/>
              </a:spcBef>
              <a:spcAft>
                <a:spcPts val="0"/>
              </a:spcAft>
              <a:buSzPts val="1400"/>
              <a:buNone/>
              <a:defRPr b="1" i="0" sz="4400" u="none" cap="none" strike="noStrike">
                <a:solidFill>
                  <a:srgbClr val="6BBD1B"/>
                </a:solidFill>
                <a:latin typeface="Arial"/>
                <a:ea typeface="Arial"/>
                <a:cs typeface="Arial"/>
                <a:sym typeface="Arial"/>
              </a:defRPr>
            </a:lvl8pPr>
            <a:lvl9pPr lvl="8" marR="0" algn="l">
              <a:spcBef>
                <a:spcPts val="0"/>
              </a:spcBef>
              <a:spcAft>
                <a:spcPts val="0"/>
              </a:spcAft>
              <a:buSzPts val="1400"/>
              <a:buNone/>
              <a:defRPr b="1" i="0" sz="4400" u="none" cap="none" strike="noStrike">
                <a:solidFill>
                  <a:srgbClr val="6BBD1B"/>
                </a:solidFill>
                <a:latin typeface="Arial"/>
                <a:ea typeface="Arial"/>
                <a:cs typeface="Arial"/>
                <a:sym typeface="Arial"/>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algn="l">
              <a:spcBef>
                <a:spcPts val="640"/>
              </a:spcBef>
              <a:spcAft>
                <a:spcPts val="0"/>
              </a:spcAft>
              <a:buClr>
                <a:srgbClr val="3F3F3F"/>
              </a:buClr>
              <a:buSzPts val="3200"/>
              <a:buFont typeface="Arial"/>
              <a:buChar char="•"/>
              <a:defRPr b="0" i="0" sz="3200" u="none" cap="none" strike="noStrike">
                <a:solidFill>
                  <a:srgbClr val="3F3F3F"/>
                </a:solidFill>
                <a:latin typeface="Arial"/>
                <a:ea typeface="Arial"/>
                <a:cs typeface="Arial"/>
                <a:sym typeface="Arial"/>
              </a:defRPr>
            </a:lvl1pPr>
            <a:lvl2pPr indent="-406400" lvl="1" marL="914400" marR="0" algn="l">
              <a:spcBef>
                <a:spcPts val="560"/>
              </a:spcBef>
              <a:spcAft>
                <a:spcPts val="0"/>
              </a:spcAft>
              <a:buClr>
                <a:srgbClr val="3F3F3F"/>
              </a:buClr>
              <a:buSzPts val="2800"/>
              <a:buFont typeface="Arial"/>
              <a:buChar char="–"/>
              <a:defRPr b="0" i="0" sz="2800" u="none" cap="none" strike="noStrike">
                <a:solidFill>
                  <a:srgbClr val="3F3F3F"/>
                </a:solidFill>
                <a:latin typeface="Arial"/>
                <a:ea typeface="Arial"/>
                <a:cs typeface="Arial"/>
                <a:sym typeface="Arial"/>
              </a:defRPr>
            </a:lvl2pPr>
            <a:lvl3pPr indent="-381000" lvl="2" marL="1371600" marR="0" algn="l">
              <a:spcBef>
                <a:spcPts val="48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Michigan State University logo" id="53" name="Google Shape;53;p13"/>
          <p:cNvPicPr preferRelativeResize="0"/>
          <p:nvPr/>
        </p:nvPicPr>
        <p:blipFill rotWithShape="1">
          <a:blip r:embed="rId1">
            <a:alphaModFix/>
          </a:blip>
          <a:srcRect b="0" l="0" r="0" t="0"/>
          <a:stretch/>
        </p:blipFill>
        <p:spPr>
          <a:xfrm>
            <a:off x="3643313" y="4908517"/>
            <a:ext cx="1394217" cy="1176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7"/>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Week 9 Session A</a:t>
            </a:r>
            <a:endParaRPr/>
          </a:p>
        </p:txBody>
      </p:sp>
      <p:sp>
        <p:nvSpPr>
          <p:cNvPr id="70" name="Google Shape;70;p17"/>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3F3F3F"/>
              </a:buClr>
              <a:buSzPts val="3200"/>
              <a:buNone/>
            </a:pPr>
            <a:r>
              <a:rPr lang="en" sz="3000"/>
              <a:t>Tuesday, March 17 2026</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Overview</a:t>
            </a:r>
            <a:endParaRPr/>
          </a:p>
        </p:txBody>
      </p:sp>
      <p:sp>
        <p:nvSpPr>
          <p:cNvPr id="76" name="Google Shape;76;p18"/>
          <p:cNvSpPr txBox="1"/>
          <p:nvPr>
            <p:ph idx="1" type="body"/>
          </p:nvPr>
        </p:nvSpPr>
        <p:spPr>
          <a:xfrm>
            <a:off x="457200" y="900125"/>
            <a:ext cx="6967800" cy="35346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 sz="2000"/>
              <a:t>ProQuestTDM (text and data mining)</a:t>
            </a:r>
            <a:endParaRPr sz="2000"/>
          </a:p>
          <a:p>
            <a:pPr indent="-355600" lvl="0" marL="457200" rtl="0" algn="l">
              <a:lnSpc>
                <a:spcPct val="115000"/>
              </a:lnSpc>
              <a:spcBef>
                <a:spcPts val="0"/>
              </a:spcBef>
              <a:spcAft>
                <a:spcPts val="0"/>
              </a:spcAft>
              <a:buSzPts val="2000"/>
              <a:buChar char="•"/>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9"/>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Text Analysis and ProQuestTDM</a:t>
            </a:r>
            <a:endParaRPr sz="3200"/>
          </a:p>
        </p:txBody>
      </p:sp>
      <p:sp>
        <p:nvSpPr>
          <p:cNvPr id="82" name="Google Shape;82;p19"/>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Dataset:</a:t>
            </a:r>
            <a:endParaRPr b="1" sz="1400"/>
          </a:p>
          <a:p>
            <a:pPr indent="-317500" lvl="1" marL="914400" rtl="0" algn="l">
              <a:lnSpc>
                <a:spcPct val="115000"/>
              </a:lnSpc>
              <a:spcBef>
                <a:spcPts val="0"/>
              </a:spcBef>
              <a:spcAft>
                <a:spcPts val="0"/>
              </a:spcAft>
              <a:buSzPts val="1400"/>
              <a:buChar char="–"/>
            </a:pPr>
            <a:r>
              <a:rPr lang="en" sz="1400"/>
              <a:t>Search terms: “data center” AND Michigan</a:t>
            </a:r>
            <a:endParaRPr sz="1400"/>
          </a:p>
          <a:p>
            <a:pPr indent="-317500" lvl="1" marL="914400" rtl="0" algn="l">
              <a:lnSpc>
                <a:spcPct val="115000"/>
              </a:lnSpc>
              <a:spcBef>
                <a:spcPts val="0"/>
              </a:spcBef>
              <a:spcAft>
                <a:spcPts val="0"/>
              </a:spcAft>
              <a:buSzPts val="1400"/>
              <a:buChar char="–"/>
            </a:pPr>
            <a:r>
              <a:rPr lang="en" sz="1400"/>
              <a:t>Timeframe: 1/1/2025 - 3/10/2026</a:t>
            </a:r>
            <a:endParaRPr sz="1400"/>
          </a:p>
          <a:p>
            <a:pPr indent="-317500" lvl="1" marL="914400" rtl="0" algn="l">
              <a:lnSpc>
                <a:spcPct val="115000"/>
              </a:lnSpc>
              <a:spcBef>
                <a:spcPts val="0"/>
              </a:spcBef>
              <a:spcAft>
                <a:spcPts val="0"/>
              </a:spcAft>
              <a:buSzPts val="1400"/>
              <a:buChar char="–"/>
            </a:pPr>
            <a:r>
              <a:rPr lang="en" sz="1400"/>
              <a:t>Sources: US Newsstream Collections, newspapers</a:t>
            </a:r>
            <a:endParaRPr sz="1400"/>
          </a:p>
          <a:p>
            <a:pPr indent="-317500" lvl="1" marL="914400" rtl="0" algn="l">
              <a:lnSpc>
                <a:spcPct val="115000"/>
              </a:lnSpc>
              <a:spcBef>
                <a:spcPts val="0"/>
              </a:spcBef>
              <a:spcAft>
                <a:spcPts val="0"/>
              </a:spcAft>
              <a:buSzPts val="1400"/>
              <a:buChar char="–"/>
            </a:pPr>
            <a:r>
              <a:rPr lang="en" sz="1400"/>
              <a:t>Results: 469 documents</a:t>
            </a:r>
            <a:endParaRPr sz="1400"/>
          </a:p>
        </p:txBody>
      </p:sp>
      <p:pic>
        <p:nvPicPr>
          <p:cNvPr id="83" name="Google Shape;83;p19" title="Screenshot 2026-03-17 at 2.51.52 PM.png"/>
          <p:cNvPicPr preferRelativeResize="0"/>
          <p:nvPr/>
        </p:nvPicPr>
        <p:blipFill>
          <a:blip r:embed="rId3">
            <a:alphaModFix/>
          </a:blip>
          <a:stretch>
            <a:fillRect/>
          </a:stretch>
        </p:blipFill>
        <p:spPr>
          <a:xfrm>
            <a:off x="1485500" y="2301943"/>
            <a:ext cx="5936026" cy="25781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0"/>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Text Analysis and ProQuestTDM</a:t>
            </a:r>
            <a:endParaRPr sz="3200"/>
          </a:p>
        </p:txBody>
      </p:sp>
      <p:sp>
        <p:nvSpPr>
          <p:cNvPr id="89" name="Google Shape;89;p20"/>
          <p:cNvSpPr txBox="1"/>
          <p:nvPr>
            <p:ph idx="1" type="body"/>
          </p:nvPr>
        </p:nvSpPr>
        <p:spPr>
          <a:xfrm>
            <a:off x="552450" y="944300"/>
            <a:ext cx="8005200" cy="16275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Visualization Dashboard on Topic Modeling</a:t>
            </a:r>
            <a:endParaRPr sz="1400"/>
          </a:p>
          <a:p>
            <a:pPr indent="-317500" lvl="1" marL="914400" rtl="0" algn="l">
              <a:lnSpc>
                <a:spcPct val="115000"/>
              </a:lnSpc>
              <a:spcBef>
                <a:spcPts val="0"/>
              </a:spcBef>
              <a:spcAft>
                <a:spcPts val="0"/>
              </a:spcAft>
              <a:buSzPts val="1400"/>
              <a:buChar char="–"/>
            </a:pPr>
            <a:r>
              <a:rPr lang="en" sz="1400"/>
              <a:t>When you clicked Topic Modeling, what are your findings?</a:t>
            </a:r>
            <a:endParaRPr sz="1400"/>
          </a:p>
          <a:p>
            <a:pPr indent="-317500" lvl="2" marL="1371600" rtl="0" algn="l">
              <a:lnSpc>
                <a:spcPct val="115000"/>
              </a:lnSpc>
              <a:spcBef>
                <a:spcPts val="0"/>
              </a:spcBef>
              <a:spcAft>
                <a:spcPts val="0"/>
              </a:spcAft>
              <a:buSzPts val="1400"/>
              <a:buChar char="•"/>
            </a:pPr>
            <a:r>
              <a:rPr lang="en" sz="1400"/>
              <a:t>How many topics did you review?</a:t>
            </a:r>
            <a:endParaRPr sz="1400"/>
          </a:p>
          <a:p>
            <a:pPr indent="-317500" lvl="2" marL="1371600" rtl="0" algn="l">
              <a:lnSpc>
                <a:spcPct val="115000"/>
              </a:lnSpc>
              <a:spcBef>
                <a:spcPts val="0"/>
              </a:spcBef>
              <a:spcAft>
                <a:spcPts val="0"/>
              </a:spcAft>
              <a:buSzPts val="1400"/>
              <a:buChar char="•"/>
            </a:pPr>
            <a:r>
              <a:rPr lang="en" sz="1400"/>
              <a:t>What do you like about this dashboard?</a:t>
            </a:r>
            <a:endParaRPr sz="1400"/>
          </a:p>
          <a:p>
            <a:pPr indent="-317500" lvl="2" marL="1371600" rtl="0" algn="l">
              <a:lnSpc>
                <a:spcPct val="115000"/>
              </a:lnSpc>
              <a:spcBef>
                <a:spcPts val="0"/>
              </a:spcBef>
              <a:spcAft>
                <a:spcPts val="0"/>
              </a:spcAft>
              <a:buSzPts val="1400"/>
              <a:buChar char="•"/>
            </a:pPr>
            <a:r>
              <a:rPr lang="en" sz="1400"/>
              <a:t>What are some potential limitations?</a:t>
            </a:r>
            <a:endParaRPr sz="1400"/>
          </a:p>
          <a:p>
            <a:pPr indent="-317500" lvl="2" marL="1371600" rtl="0" algn="l">
              <a:lnSpc>
                <a:spcPct val="115000"/>
              </a:lnSpc>
              <a:spcBef>
                <a:spcPts val="0"/>
              </a:spcBef>
              <a:spcAft>
                <a:spcPts val="0"/>
              </a:spcAft>
              <a:buSzPts val="1400"/>
              <a:buChar char="•"/>
            </a:pPr>
            <a:r>
              <a:rPr lang="en" sz="1400"/>
              <a:t>Let’s compare our results!</a:t>
            </a:r>
            <a:endParaRPr sz="1400"/>
          </a:p>
        </p:txBody>
      </p:sp>
      <p:pic>
        <p:nvPicPr>
          <p:cNvPr id="90" name="Google Shape;90;p20" title="Screenshot 2026-03-17 at 2.59.13 PM.png"/>
          <p:cNvPicPr preferRelativeResize="0"/>
          <p:nvPr/>
        </p:nvPicPr>
        <p:blipFill>
          <a:blip r:embed="rId3">
            <a:alphaModFix/>
          </a:blip>
          <a:stretch>
            <a:fillRect/>
          </a:stretch>
        </p:blipFill>
        <p:spPr>
          <a:xfrm>
            <a:off x="1619875" y="2571750"/>
            <a:ext cx="4814626" cy="23112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Text Analysis and ProQuestTDM</a:t>
            </a:r>
            <a:endParaRPr sz="3200"/>
          </a:p>
        </p:txBody>
      </p:sp>
      <p:sp>
        <p:nvSpPr>
          <p:cNvPr id="96" name="Google Shape;96;p21"/>
          <p:cNvSpPr txBox="1"/>
          <p:nvPr>
            <p:ph idx="1" type="body"/>
          </p:nvPr>
        </p:nvSpPr>
        <p:spPr>
          <a:xfrm>
            <a:off x="552450" y="944300"/>
            <a:ext cx="8005200" cy="7941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Workbench in ProQuestTDM: Hands-on coding!</a:t>
            </a:r>
            <a:endParaRPr b="1" sz="1400"/>
          </a:p>
          <a:p>
            <a:pPr indent="-317500" lvl="1" marL="914400" rtl="0" algn="l">
              <a:lnSpc>
                <a:spcPct val="115000"/>
              </a:lnSpc>
              <a:spcBef>
                <a:spcPts val="0"/>
              </a:spcBef>
              <a:spcAft>
                <a:spcPts val="0"/>
              </a:spcAft>
              <a:buSzPts val="1400"/>
              <a:buChar char="–"/>
            </a:pPr>
            <a:r>
              <a:rPr lang="en" sz="1400"/>
              <a:t>Let’s run things in Jupyter Notebook and see the backend of this!</a:t>
            </a:r>
            <a:endParaRPr sz="1400"/>
          </a:p>
          <a:p>
            <a:pPr indent="-317500" lvl="0" marL="457200" rtl="0" algn="l">
              <a:lnSpc>
                <a:spcPct val="115000"/>
              </a:lnSpc>
              <a:spcBef>
                <a:spcPts val="0"/>
              </a:spcBef>
              <a:spcAft>
                <a:spcPts val="0"/>
              </a:spcAft>
              <a:buSzPts val="1400"/>
              <a:buChar char="•"/>
            </a:pPr>
            <a:r>
              <a:rPr lang="en" sz="1400"/>
              <a:t>What does the data actually look like?</a:t>
            </a:r>
            <a:endParaRPr sz="1400"/>
          </a:p>
          <a:p>
            <a:pPr indent="-317500" lvl="1" marL="914400" rtl="0" algn="l">
              <a:lnSpc>
                <a:spcPct val="115000"/>
              </a:lnSpc>
              <a:spcBef>
                <a:spcPts val="0"/>
              </a:spcBef>
              <a:spcAft>
                <a:spcPts val="0"/>
              </a:spcAft>
              <a:buSzPts val="1400"/>
              <a:buChar char="–"/>
            </a:pPr>
            <a:r>
              <a:rPr lang="en" sz="1400"/>
              <a:t>.xml files</a:t>
            </a:r>
            <a:endParaRPr sz="1400"/>
          </a:p>
        </p:txBody>
      </p:sp>
      <p:pic>
        <p:nvPicPr>
          <p:cNvPr id="97" name="Google Shape;97;p21" title="Screenshot 2026-03-17 at 3.09.03 PM.png"/>
          <p:cNvPicPr preferRelativeResize="0"/>
          <p:nvPr/>
        </p:nvPicPr>
        <p:blipFill>
          <a:blip r:embed="rId3">
            <a:alphaModFix/>
          </a:blip>
          <a:stretch>
            <a:fillRect/>
          </a:stretch>
        </p:blipFill>
        <p:spPr>
          <a:xfrm>
            <a:off x="1344126" y="2165525"/>
            <a:ext cx="4599350" cy="2673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Our results vs ProQuestTDM’s results</a:t>
            </a:r>
            <a:endParaRPr sz="3200"/>
          </a:p>
        </p:txBody>
      </p:sp>
      <p:sp>
        <p:nvSpPr>
          <p:cNvPr id="103" name="Google Shape;103;p22"/>
          <p:cNvSpPr txBox="1"/>
          <p:nvPr>
            <p:ph idx="1" type="body"/>
          </p:nvPr>
        </p:nvSpPr>
        <p:spPr>
          <a:xfrm>
            <a:off x="552450" y="944300"/>
            <a:ext cx="8005200" cy="16275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lang="en" sz="1400"/>
              <a:t>Are they the same?</a:t>
            </a:r>
            <a:endParaRPr sz="1400"/>
          </a:p>
          <a:p>
            <a:pPr indent="-317500" lvl="0" marL="457200" rtl="0" algn="l">
              <a:lnSpc>
                <a:spcPct val="115000"/>
              </a:lnSpc>
              <a:spcBef>
                <a:spcPts val="0"/>
              </a:spcBef>
              <a:spcAft>
                <a:spcPts val="0"/>
              </a:spcAft>
              <a:buSzPts val="1400"/>
              <a:buChar char="•"/>
            </a:pPr>
            <a:r>
              <a:rPr lang="en" sz="1400"/>
              <a:t>If not, why?</a:t>
            </a:r>
            <a:endParaRPr sz="1400"/>
          </a:p>
          <a:p>
            <a:pPr indent="-317500" lvl="1" marL="914400" rtl="0" algn="l">
              <a:lnSpc>
                <a:spcPct val="115000"/>
              </a:lnSpc>
              <a:spcBef>
                <a:spcPts val="0"/>
              </a:spcBef>
              <a:spcAft>
                <a:spcPts val="0"/>
              </a:spcAft>
              <a:buSzPts val="1400"/>
              <a:buChar char="–"/>
            </a:pPr>
            <a:r>
              <a:rPr lang="en" sz="1400"/>
              <a:t>LDA is a probabilistic model, so small differences between runs are normal, but when we fix the random seed and keep preprocessing constant, the results stabilize. ProQuest’s topics look consistent because they run the model once with fixed settings and reuse the results.</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2800"/>
              <a:t>Week 9 Assignment</a:t>
            </a:r>
            <a:endParaRPr sz="2800"/>
          </a:p>
        </p:txBody>
      </p:sp>
      <p:sp>
        <p:nvSpPr>
          <p:cNvPr id="109" name="Google Shape;109;p23"/>
          <p:cNvSpPr txBox="1"/>
          <p:nvPr>
            <p:ph idx="1" type="body"/>
          </p:nvPr>
        </p:nvSpPr>
        <p:spPr>
          <a:xfrm>
            <a:off x="457200" y="900125"/>
            <a:ext cx="8229600" cy="37641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 sz="2000"/>
              <a:t>Examine the results generated from ProQuest’s built in function of topic modeling.</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