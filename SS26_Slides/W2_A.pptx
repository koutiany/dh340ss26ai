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search.ibm.com/blog/what-is-generative-AI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pawlicy.com/blog/cat-photos-for-monday/" TargetMode="External"/><Relationship Id="rId3" Type="http://schemas.openxmlformats.org/officeDocument/2006/relationships/hyperlink" Target="https://www.akc.org/expert-advice/puppy-information/difference-between-show-dogs-and-pet-puppies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adbb0b52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adbb0b52c_0_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dbb0b52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adbb0b52c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dbb0b52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https://research.ibm.com/blog/what-is-generative-AI</a:t>
            </a:r>
            <a:r>
              <a:rPr lang="en"/>
              <a:t> </a:t>
            </a:r>
            <a:endParaRPr/>
          </a:p>
        </p:txBody>
      </p:sp>
      <p:sp>
        <p:nvSpPr>
          <p:cNvPr id="92" name="Google Shape;92;g3badbb0b52c_0_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adbb0b52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adbb0b52c_0_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adbb0b52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adbb0b52c_0_1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dbb0b52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https://www.pawlicy.com/blog/cat-photos-for-monday/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https://www.akc.org/expert-advice/puppy-information/difference-between-show-dogs-and-pet-puppies/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patterns helped you decide which is the dog? Pattern listing itself is modeling. A model is a learned pattern from examples.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adbb0b52c_0_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adbb0b52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image is generated by Copilot.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computer model is essentially a big file full of numbers. These numbers are arranged in a very particular 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model is basically a giant collection of learned patterns, saved as numbers.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the layer 1 as a spreadsheet. Each row and column contains numbers. Layer 1 (spreadsheet 1) passes information to Layer 2. A model is a stack of them.</a:t>
            </a:r>
            <a:endParaRPr/>
          </a:p>
        </p:txBody>
      </p:sp>
      <p:sp>
        <p:nvSpPr>
          <p:cNvPr id="126" name="Google Shape;126;g3badbb0b52c_0_1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adbb0b52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answers can be diverse but at least it has to follow some sort of pattern/logic. A language model does one thing: it is trained on text to</a:t>
            </a:r>
            <a:r>
              <a:rPr b="1" lang="en"/>
              <a:t> predict text</a:t>
            </a:r>
            <a:r>
              <a:rPr lang="en"/>
              <a:t>.</a:t>
            </a:r>
            <a:endParaRPr/>
          </a:p>
        </p:txBody>
      </p:sp>
      <p:sp>
        <p:nvSpPr>
          <p:cNvPr id="137" name="Google Shape;137;g3badbb0b52c_0_1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adbb0b52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adbb0b52c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adbb0b52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adbb0b52c_0_1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adbb0b52c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badbb0b52c_0_1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huggingface.co/openai-community/gpt2" TargetMode="External"/><Relationship Id="rId4" Type="http://schemas.openxmlformats.org/officeDocument/2006/relationships/hyperlink" Target="https://huggingface.co/openai-community/gpt2-large" TargetMode="External"/><Relationship Id="rId5" Type="http://schemas.openxmlformats.org/officeDocument/2006/relationships/hyperlink" Target="https://huggingface.co/meta-llama/Llama-2-7b" TargetMode="External"/><Relationship Id="rId6" Type="http://schemas.openxmlformats.org/officeDocument/2006/relationships/hyperlink" Target="https://www.ibm.com/think/topics/gpt-4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 Session A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Tuesday, Jan 20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Review: AI, ML, (NN,) DL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Activity in Miro Board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Generative AI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Large Language Models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Famous LLMs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What is a model?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What is a language model?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What is a LLM?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Feeling how it 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AI, ML, (NN,) DL</a:t>
            </a:r>
            <a:endParaRPr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457200" y="900125"/>
            <a:ext cx="83706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Invite you to the Miro Board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Once you all gained access, move items on the left to the right and reason your decisions</a:t>
            </a:r>
            <a:endParaRPr/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225" y="2424575"/>
            <a:ext cx="2331800" cy="23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AI, ML, (NN,) DL</a:t>
            </a:r>
            <a:endParaRPr/>
          </a:p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457200" y="900125"/>
            <a:ext cx="7374900" cy="3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Judge the following statements: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Machine learning is a subset of deep learning.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All machine learning is a form of artificial intelligence.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All artificial intelligence touch on deep learning.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Deep learning is a subset of machine learning.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lang="en"/>
              <a:t>All machine learning uses neural networks.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AI</a:t>
            </a:r>
            <a:endParaRPr/>
          </a:p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457200" y="900125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Where does the concept “generative AI” fit into our visual?</a:t>
            </a:r>
            <a:endParaRPr sz="2000"/>
          </a:p>
        </p:txBody>
      </p:sp>
      <p:pic>
        <p:nvPicPr>
          <p:cNvPr id="96" name="Google Shape;96;p21" title="section2visu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26" y="1543325"/>
            <a:ext cx="2865200" cy="29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 txBox="1"/>
          <p:nvPr/>
        </p:nvSpPr>
        <p:spPr>
          <a:xfrm>
            <a:off x="4036150" y="1667325"/>
            <a:ext cx="4874400" cy="27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F3F3F"/>
                </a:solidFill>
              </a:rPr>
              <a:t>Generative AI are deep learning models that can </a:t>
            </a:r>
            <a:r>
              <a:rPr b="1" lang="en" sz="2000">
                <a:solidFill>
                  <a:srgbClr val="3F3F3F"/>
                </a:solidFill>
              </a:rPr>
              <a:t>generate</a:t>
            </a:r>
            <a:r>
              <a:rPr lang="en" sz="2000">
                <a:solidFill>
                  <a:srgbClr val="3F3F3F"/>
                </a:solidFill>
              </a:rPr>
              <a:t> high-quality text, images, and other content based on the data they were trained on.</a:t>
            </a:r>
            <a:endParaRPr sz="20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-"/>
            </a:pPr>
            <a:r>
              <a:rPr lang="en" sz="2000">
                <a:solidFill>
                  <a:srgbClr val="3F3F3F"/>
                </a:solidFill>
              </a:rPr>
              <a:t>It generates.</a:t>
            </a:r>
            <a:endParaRPr sz="2000">
              <a:solidFill>
                <a:srgbClr val="3F3F3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-"/>
            </a:pPr>
            <a:r>
              <a:rPr lang="en" sz="2000">
                <a:solidFill>
                  <a:srgbClr val="3F3F3F"/>
                </a:solidFill>
              </a:rPr>
              <a:t>It’s creative in a </a:t>
            </a:r>
            <a:r>
              <a:rPr b="1" lang="en" sz="2000">
                <a:solidFill>
                  <a:srgbClr val="3F3F3F"/>
                </a:solidFill>
              </a:rPr>
              <a:t>probabilistic </a:t>
            </a:r>
            <a:r>
              <a:rPr lang="en" sz="2000">
                <a:solidFill>
                  <a:srgbClr val="3F3F3F"/>
                </a:solidFill>
              </a:rPr>
              <a:t>way.</a:t>
            </a:r>
            <a:endParaRPr sz="2000">
              <a:solidFill>
                <a:srgbClr val="3F3F3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-"/>
            </a:pPr>
            <a:r>
              <a:rPr lang="en" sz="2000">
                <a:solidFill>
                  <a:srgbClr val="3F3F3F"/>
                </a:solidFill>
              </a:rPr>
              <a:t>It comes from deep </a:t>
            </a:r>
            <a:r>
              <a:rPr lang="en" sz="2000">
                <a:solidFill>
                  <a:srgbClr val="3F3F3F"/>
                </a:solidFill>
              </a:rPr>
              <a:t>learning.</a:t>
            </a:r>
            <a:endParaRPr sz="20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F3F3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</a:t>
            </a:r>
            <a:endParaRPr/>
          </a:p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457200" y="900125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Where does the concept “Large Language Models” fit into our visual?</a:t>
            </a:r>
            <a:endParaRPr sz="2000"/>
          </a:p>
        </p:txBody>
      </p:sp>
      <p:pic>
        <p:nvPicPr>
          <p:cNvPr id="104" name="Google Shape;104;p22" title="section2visu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26" y="1543325"/>
            <a:ext cx="2865200" cy="29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748225" y="2028075"/>
            <a:ext cx="52140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Judge the following statements: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Large Language Models are one specific type of Generative AI.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lang="en" sz="2200"/>
              <a:t>All LLMs are Generative AI, but not all Generative AI are LLMs.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</a:t>
            </a:r>
            <a:endParaRPr/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457200" y="900125"/>
            <a:ext cx="8229600" cy="13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What are some of the popular LLMs?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Which companies own these models?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Where are they based?</a:t>
            </a:r>
            <a:endParaRPr sz="2000"/>
          </a:p>
        </p:txBody>
      </p:sp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825" y="2399975"/>
            <a:ext cx="5054976" cy="252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Basics I</a:t>
            </a:r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457200" y="900125"/>
            <a:ext cx="3827400" cy="13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What is a model? What is modeling?</a:t>
            </a:r>
            <a:endParaRPr sz="2000"/>
          </a:p>
        </p:txBody>
      </p:sp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75" y="1839800"/>
            <a:ext cx="2134325" cy="213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7100" y="2463100"/>
            <a:ext cx="2359575" cy="235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7650" y="318025"/>
            <a:ext cx="1714699" cy="204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0100" y="376825"/>
            <a:ext cx="2086275" cy="20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8475" y="2571750"/>
            <a:ext cx="3563399" cy="23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90300" y="4320675"/>
            <a:ext cx="1913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Architecture</a:t>
            </a:r>
            <a:endParaRPr b="1" sz="2000"/>
          </a:p>
        </p:txBody>
      </p:sp>
      <p:sp>
        <p:nvSpPr>
          <p:cNvPr id="129" name="Google Shape;129;p25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Basics I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457200" y="900125"/>
            <a:ext cx="82296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What does a model look like?</a:t>
            </a:r>
            <a:endParaRPr sz="2000"/>
          </a:p>
        </p:txBody>
      </p:sp>
      <p:pic>
        <p:nvPicPr>
          <p:cNvPr id="131" name="Google Shape;131;p25" title="Screenshot 2026-01-19 at 17.37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00" y="1746200"/>
            <a:ext cx="8839199" cy="1499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5"/>
          <p:cNvCxnSpPr/>
          <p:nvPr/>
        </p:nvCxnSpPr>
        <p:spPr>
          <a:xfrm flipH="1" rot="10800000">
            <a:off x="544150" y="2623575"/>
            <a:ext cx="25800" cy="16971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5"/>
          <p:cNvCxnSpPr/>
          <p:nvPr/>
        </p:nvCxnSpPr>
        <p:spPr>
          <a:xfrm rot="10800000">
            <a:off x="4184700" y="2649375"/>
            <a:ext cx="1723200" cy="16455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5982175" y="4194650"/>
            <a:ext cx="19137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Parameters</a:t>
            </a:r>
            <a:endParaRPr b="1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Basics II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457200" y="900125"/>
            <a:ext cx="82296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What is a language model?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Guess the next word: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This morning I spilled coffee on my…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It’s so cold outside, remember to wear your …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Titi is sick this week, so we are not meeting …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Teddy has a pet and it is a …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Rebecca comes from New York and people in Michigan always ask her why she decided to come …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Theo studies journalism and we assume he enjoys reading and …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Basics II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457200" y="900125"/>
            <a:ext cx="82296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What does a language model look like?</a:t>
            </a:r>
            <a:endParaRPr sz="2000"/>
          </a:p>
        </p:txBody>
      </p:sp>
      <p:pic>
        <p:nvPicPr>
          <p:cNvPr id="147" name="Google Shape;147;p27" title="Screenshot 2026-01-19 at 17.37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00" y="1746200"/>
            <a:ext cx="8839199" cy="14999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7"/>
          <p:cNvCxnSpPr/>
          <p:nvPr/>
        </p:nvCxnSpPr>
        <p:spPr>
          <a:xfrm flipH="1" rot="10800000">
            <a:off x="544150" y="2623575"/>
            <a:ext cx="25800" cy="16971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7"/>
          <p:cNvCxnSpPr/>
          <p:nvPr/>
        </p:nvCxnSpPr>
        <p:spPr>
          <a:xfrm rot="10800000">
            <a:off x="4184700" y="2649375"/>
            <a:ext cx="1723200" cy="1645500"/>
          </a:xfrm>
          <a:prstGeom prst="straightConnector1">
            <a:avLst/>
          </a:prstGeom>
          <a:noFill/>
          <a:ln cap="flat" cmpd="sng" w="38100">
            <a:solidFill>
              <a:srgbClr val="C27BA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Basics III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What is a large language model?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Large! (trained on massive dataset)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Language! (text! human language)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Model! (learned pattern → predict pattern)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It is essentially a collection of numbers/parameters in a specific way, and it is trained on huge amounts of text (books, articles, websites) using deep learning so it can generate fluent, human-like language.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Basics III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How large?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Old models: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124</a:t>
            </a:r>
            <a:r>
              <a:rPr lang="en" sz="2000"/>
              <a:t> million parameters </a:t>
            </a:r>
            <a:r>
              <a:rPr lang="en"/>
              <a:t>(</a:t>
            </a:r>
            <a:r>
              <a:rPr lang="en" u="sng">
                <a:solidFill>
                  <a:schemeClr val="hlink"/>
                </a:solidFill>
                <a:hlinkClick r:id="rId3"/>
              </a:rPr>
              <a:t>gpt2</a:t>
            </a:r>
            <a:r>
              <a:rPr lang="en"/>
              <a:t>)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774 million parameters (</a:t>
            </a:r>
            <a:r>
              <a:rPr lang="en" u="sng">
                <a:solidFill>
                  <a:schemeClr val="hlink"/>
                </a:solidFill>
                <a:hlinkClick r:id="rId4"/>
              </a:rPr>
              <a:t>gpt2-large</a:t>
            </a:r>
            <a:r>
              <a:rPr lang="en"/>
              <a:t>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Mid-size models: 7-70 billion (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Llama 2</a:t>
            </a:r>
            <a:r>
              <a:rPr lang="en" sz="2000"/>
              <a:t>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Large LLMs: 70 billion - trillion (</a:t>
            </a:r>
            <a:r>
              <a:rPr lang="en" sz="2000" u="sng">
                <a:solidFill>
                  <a:schemeClr val="hlink"/>
                </a:solidFill>
                <a:hlinkClick r:id="rId6"/>
              </a:rPr>
              <a:t>gpt 4o</a:t>
            </a:r>
            <a:r>
              <a:rPr lang="en" sz="2000"/>
              <a:t>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 Assignment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Explain LLMs in different ways: elevator talk, Instagram reels, YouTube shorts, “explain at family Thanksgiving party.”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