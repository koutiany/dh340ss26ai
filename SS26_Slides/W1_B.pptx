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6858000" cx="9144000"/>
  <p:notesSz cx="6858000" cy="9144000"/>
  <p:embeddedFontLst>
    <p:embeddedFont>
      <p:font typeface="Montserrat"/>
      <p:bold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3" roundtripDataSignature="AMtx7mha1UbggWv1pq7FQ7WI4rSK5HlCu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font" Target="fonts/Montserrat-boldItalic.fntdata"/><Relationship Id="rId10" Type="http://schemas.openxmlformats.org/officeDocument/2006/relationships/slide" Target="slides/slide4.xml"/><Relationship Id="rId21" Type="http://schemas.openxmlformats.org/officeDocument/2006/relationships/font" Target="fonts/Montserrat-bold.fntdata"/><Relationship Id="rId13" Type="http://schemas.openxmlformats.org/officeDocument/2006/relationships/slide" Target="slides/slide7.xml"/><Relationship Id="rId12" Type="http://schemas.openxmlformats.org/officeDocument/2006/relationships/slide" Target="slides/slide6.xml"/><Relationship Id="rId23" Type="http://customschemas.google.com/relationships/presentationmetadata" Target="meta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edium.com/@1154_75881/what-is-machine-learning-fb3821129ff0"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ibm.com/think/topics/neural-networks"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ibm.com/think/topics/deep-learning"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shakudo.io/blog/top-9-large-language-models" TargetMode="External"/><Relationship Id="rId3" Type="http://schemas.openxmlformats.org/officeDocument/2006/relationships/hyperlink" Target="https://docs.ollama.com/"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g3b81fcc07d7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g3b81fcc07d7_0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g3b81fcc07d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g3b81fcc07d7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g3b82680a637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https://en.wikipedia.org/wiki/Turing_test#/media/File:Turing_test_diagram.png</a:t>
            </a:r>
            <a:endParaRPr/>
          </a:p>
          <a:p>
            <a:pPr indent="0" lvl="0" marL="0" rtl="0" algn="l">
              <a:spcBef>
                <a:spcPts val="0"/>
              </a:spcBef>
              <a:spcAft>
                <a:spcPts val="0"/>
              </a:spcAft>
              <a:buNone/>
            </a:pPr>
            <a:r>
              <a:rPr lang="en-US"/>
              <a:t>https://arxiv.org/abs/2503.23674</a:t>
            </a:r>
            <a:endParaRPr/>
          </a:p>
        </p:txBody>
      </p:sp>
      <p:sp>
        <p:nvSpPr>
          <p:cNvPr id="51" name="Google Shape;51;g3b82680a637_0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b82680a637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g3b82680a637_0_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Image on the left: Source: Chiara Caprasi, “Artificial Intelligence, Machine Learning, Deep Learning, GenAI and more ”, 2023, https://medium.com/womenintechnology/ai- c3412c5aa0ac.</a:t>
            </a:r>
            <a:endParaRPr/>
          </a:p>
          <a:p>
            <a:pPr indent="0" lvl="0" marL="0" rtl="0" algn="l">
              <a:spcBef>
                <a:spcPts val="0"/>
              </a:spcBef>
              <a:spcAft>
                <a:spcPts val="0"/>
              </a:spcAft>
              <a:buNone/>
            </a:pPr>
            <a:r>
              <a:rPr lang="en-US"/>
              <a:t>Image on the right: https://medium.com/@nerdnourishment/ai-are-like-onions-7c664ee3d768</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Neural networks simulate the human brain to help machines learn using interconnected artificial neurons, which can help predict patterns.</a:t>
            </a:r>
            <a:endParaRPr/>
          </a:p>
          <a:p>
            <a:pPr indent="0" lvl="0" marL="0" rtl="0" algn="l">
              <a:spcBef>
                <a:spcPts val="0"/>
              </a:spcBef>
              <a:spcAft>
                <a:spcPts val="0"/>
              </a:spcAft>
              <a:buNone/>
            </a:pPr>
            <a:r>
              <a:rPr lang="en-US"/>
              <a:t>Deep learning uses multiple layers of artificial neurons that enable the machine to engage in sophisticated learning, such as that necessary for applications like self-driving vehicles, which must analyze factors like distance and depth for the machine to perform effectively.</a:t>
            </a:r>
            <a:endParaRPr/>
          </a:p>
        </p:txBody>
      </p:sp>
      <p:sp>
        <p:nvSpPr>
          <p:cNvPr id="66" name="Google Shape;6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b82680a637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u="sng">
                <a:solidFill>
                  <a:schemeClr val="hlink"/>
                </a:solidFill>
                <a:hlinkClick r:id="rId2"/>
              </a:rPr>
              <a:t>https://medium.com/@1154_75881/what-is-machine-learning-fb3821129ff0</a:t>
            </a:r>
            <a:r>
              <a:rPr lang="en-US"/>
              <a:t> </a:t>
            </a:r>
            <a:endParaRPr/>
          </a:p>
        </p:txBody>
      </p:sp>
      <p:sp>
        <p:nvSpPr>
          <p:cNvPr id="74" name="Google Shape;74;g3b82680a637_0_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b82680a637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u="sng">
                <a:solidFill>
                  <a:schemeClr val="hlink"/>
                </a:solidFill>
                <a:hlinkClick r:id="rId2"/>
              </a:rPr>
              <a:t>https://www.ibm.com/think/topics/neural-networks</a:t>
            </a:r>
            <a:r>
              <a:rPr lang="en-US"/>
              <a:t> </a:t>
            </a:r>
            <a:endParaRPr/>
          </a:p>
        </p:txBody>
      </p:sp>
      <p:sp>
        <p:nvSpPr>
          <p:cNvPr id="82" name="Google Shape;82;g3b82680a637_0_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b82680a637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u="sng">
                <a:solidFill>
                  <a:schemeClr val="hlink"/>
                </a:solidFill>
                <a:hlinkClick r:id="rId2"/>
              </a:rPr>
              <a:t>https://www.ibm.com/think/topics/deep-learning</a:t>
            </a:r>
            <a:r>
              <a:rPr lang="en-US"/>
              <a:t> </a:t>
            </a:r>
            <a:endParaRPr/>
          </a:p>
        </p:txBody>
      </p:sp>
      <p:sp>
        <p:nvSpPr>
          <p:cNvPr id="90" name="Google Shape;90;g3b82680a637_0_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b82680a637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g3b82680a637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b81fcc07d7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u="sng">
                <a:solidFill>
                  <a:schemeClr val="hlink"/>
                </a:solidFill>
                <a:hlinkClick r:id="rId2"/>
              </a:rPr>
              <a:t>https://www.shakudo.io/blog/top-9-large-language-models</a:t>
            </a:r>
            <a:endParaRPr/>
          </a:p>
          <a:p>
            <a:pPr indent="0" lvl="0" marL="0" rtl="0" algn="l">
              <a:spcBef>
                <a:spcPts val="0"/>
              </a:spcBef>
              <a:spcAft>
                <a:spcPts val="0"/>
              </a:spcAft>
              <a:buNone/>
            </a:pPr>
            <a:r>
              <a:rPr lang="en-US"/>
              <a:t>Image from Ollama’s website: </a:t>
            </a:r>
            <a:r>
              <a:rPr lang="en-US" u="sng">
                <a:solidFill>
                  <a:schemeClr val="hlink"/>
                </a:solidFill>
                <a:hlinkClick r:id="rId3"/>
              </a:rPr>
              <a:t>https://docs.ollama.com/</a:t>
            </a:r>
            <a:r>
              <a:rPr lang="en-US"/>
              <a:t> </a:t>
            </a:r>
            <a:endParaRPr/>
          </a:p>
          <a:p>
            <a:pPr indent="0" lvl="0" marL="0" rtl="0" algn="l">
              <a:spcBef>
                <a:spcPts val="0"/>
              </a:spcBef>
              <a:spcAft>
                <a:spcPts val="0"/>
              </a:spcAft>
              <a:buNone/>
            </a:pPr>
            <a:r>
              <a:t/>
            </a:r>
            <a:endParaRPr/>
          </a:p>
        </p:txBody>
      </p:sp>
      <p:sp>
        <p:nvSpPr>
          <p:cNvPr id="105" name="Google Shape;105;g3b81fcc07d7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b81fcc07d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Ada Lovelace: https://youtu.be/J7ITqnEmf-g?si=GQMIhGDWnk3V_G8F</a:t>
            </a:r>
            <a:endParaRPr/>
          </a:p>
          <a:p>
            <a:pPr indent="0" lvl="0" marL="0" rtl="0" algn="l">
              <a:spcBef>
                <a:spcPts val="0"/>
              </a:spcBef>
              <a:spcAft>
                <a:spcPts val="0"/>
              </a:spcAft>
              <a:buNone/>
            </a:pPr>
            <a:r>
              <a:rPr lang="en-US"/>
              <a:t>Grace Hopper: https://youtu.be/1LR6NPpFxw4?si=B_a9RhsHHSZOLyF9</a:t>
            </a:r>
            <a:endParaRPr/>
          </a:p>
        </p:txBody>
      </p:sp>
      <p:sp>
        <p:nvSpPr>
          <p:cNvPr id="113" name="Google Shape;113;g3b81fcc07d7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b81fcc07d7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g3b81fcc07d7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b82680a63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g3b82680a637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6"/>
          <p:cNvSpPr txBox="1"/>
          <p:nvPr>
            <p:ph type="ctrTitle"/>
          </p:nvPr>
        </p:nvSpPr>
        <p:spPr>
          <a:xfrm>
            <a:off x="685800" y="1728841"/>
            <a:ext cx="7772400" cy="1301965"/>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SzPts val="1400"/>
              <a:buNone/>
              <a:defRPr b="1" i="0" sz="3600" u="none" cap="none" strike="noStrike">
                <a:solidFill>
                  <a:srgbClr val="18453B"/>
                </a:solidFill>
                <a:latin typeface="Montserrat"/>
                <a:ea typeface="Montserrat"/>
                <a:cs typeface="Montserrat"/>
                <a:sym typeface="Montserrat"/>
              </a:defRPr>
            </a:lvl1pPr>
            <a:lvl2pPr lvl="1"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9pPr>
          </a:lstStyle>
          <a:p/>
        </p:txBody>
      </p:sp>
      <p:sp>
        <p:nvSpPr>
          <p:cNvPr id="12" name="Google Shape;12;p6"/>
          <p:cNvSpPr txBox="1"/>
          <p:nvPr>
            <p:ph idx="1" type="subTitle"/>
          </p:nvPr>
        </p:nvSpPr>
        <p:spPr>
          <a:xfrm>
            <a:off x="685800" y="3039566"/>
            <a:ext cx="7772400" cy="2102356"/>
          </a:xfrm>
          <a:prstGeom prst="rect">
            <a:avLst/>
          </a:prstGeom>
          <a:noFill/>
          <a:ln>
            <a:noFill/>
          </a:ln>
        </p:spPr>
        <p:txBody>
          <a:bodyPr anchorCtr="0" anchor="t" bIns="45700" lIns="91425" spcFirstLastPara="1" rIns="91425" wrap="square" tIns="45700">
            <a:normAutofit/>
          </a:bodyPr>
          <a:lstStyle>
            <a:lvl1pPr lvl="0" algn="l">
              <a:spcBef>
                <a:spcPts val="480"/>
              </a:spcBef>
              <a:spcAft>
                <a:spcPts val="0"/>
              </a:spcAft>
              <a:buClr>
                <a:srgbClr val="3F3F3F"/>
              </a:buClr>
              <a:buSzPts val="2400"/>
              <a:buFont typeface="Arial"/>
              <a:buNone/>
              <a:defRPr b="0" i="0" sz="2400">
                <a:solidFill>
                  <a:srgbClr val="3F3F3F"/>
                </a:solidFill>
                <a:latin typeface="Arial"/>
                <a:ea typeface="Arial"/>
                <a:cs typeface="Arial"/>
                <a:sym typeface="Aria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pic>
        <p:nvPicPr>
          <p:cNvPr id="13" name="Google Shape;13;p6"/>
          <p:cNvPicPr preferRelativeResize="0"/>
          <p:nvPr/>
        </p:nvPicPr>
        <p:blipFill rotWithShape="1">
          <a:blip r:embed="rId2">
            <a:alphaModFix/>
          </a:blip>
          <a:srcRect b="0" l="0" r="0" t="0"/>
          <a:stretch/>
        </p:blipFill>
        <p:spPr>
          <a:xfrm>
            <a:off x="3643313" y="6544689"/>
            <a:ext cx="1858962" cy="1569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8"/>
          <p:cNvSpPr txBox="1"/>
          <p:nvPr>
            <p:ph type="ctrTitle"/>
          </p:nvPr>
        </p:nvSpPr>
        <p:spPr>
          <a:xfrm>
            <a:off x="980966" y="1272080"/>
            <a:ext cx="7190828" cy="11715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8"/>
          <p:cNvSpPr txBox="1"/>
          <p:nvPr>
            <p:ph idx="1" type="subTitle"/>
          </p:nvPr>
        </p:nvSpPr>
        <p:spPr>
          <a:xfrm>
            <a:off x="980966" y="2808451"/>
            <a:ext cx="7190828" cy="1752600"/>
          </a:xfrm>
          <a:prstGeom prst="rect">
            <a:avLst/>
          </a:prstGeom>
          <a:noFill/>
          <a:ln>
            <a:noFill/>
          </a:ln>
        </p:spPr>
        <p:txBody>
          <a:bodyPr anchorCtr="0" anchor="t" bIns="45700" lIns="91425" spcFirstLastPara="1" rIns="91425" wrap="square" tIns="45700">
            <a:noAutofit/>
          </a:bodyPr>
          <a:lstStyle>
            <a:lvl1pPr lvl="0" algn="l">
              <a:spcBef>
                <a:spcPts val="640"/>
              </a:spcBef>
              <a:spcAft>
                <a:spcPts val="0"/>
              </a:spcAft>
              <a:buClr>
                <a:srgbClr val="3F3F3F"/>
              </a:buClr>
              <a:buSzPts val="3200"/>
              <a:buNone/>
              <a:defRPr>
                <a:solidFill>
                  <a:srgbClr val="3F3F3F"/>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1" name="Shape 21"/>
        <p:cNvGrpSpPr/>
        <p:nvPr/>
      </p:nvGrpSpPr>
      <p:grpSpPr>
        <a:xfrm>
          <a:off x="0" y="0"/>
          <a:ext cx="0" cy="0"/>
          <a:chOff x="0" y="0"/>
          <a:chExt cx="0" cy="0"/>
        </a:xfrm>
      </p:grpSpPr>
      <p:sp>
        <p:nvSpPr>
          <p:cNvPr id="22" name="Google Shape;22;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rgbClr val="3F3F3F"/>
              </a:buClr>
              <a:buSzPts val="2800"/>
              <a:buChar char="•"/>
              <a:defRPr sz="2800">
                <a:solidFill>
                  <a:srgbClr val="3F3F3F"/>
                </a:solidFill>
              </a:defRPr>
            </a:lvl1pPr>
            <a:lvl2pPr indent="-381000" lvl="1" marL="914400" algn="l">
              <a:spcBef>
                <a:spcPts val="480"/>
              </a:spcBef>
              <a:spcAft>
                <a:spcPts val="0"/>
              </a:spcAft>
              <a:buClr>
                <a:srgbClr val="3F3F3F"/>
              </a:buClr>
              <a:buSzPts val="2400"/>
              <a:buChar char="–"/>
              <a:defRPr sz="2400">
                <a:solidFill>
                  <a:srgbClr val="3F3F3F"/>
                </a:solidFill>
              </a:defRPr>
            </a:lvl2pPr>
            <a:lvl3pPr indent="-355600" lvl="2" marL="1371600" algn="l">
              <a:spcBef>
                <a:spcPts val="400"/>
              </a:spcBef>
              <a:spcAft>
                <a:spcPts val="0"/>
              </a:spcAft>
              <a:buClr>
                <a:srgbClr val="3F3F3F"/>
              </a:buClr>
              <a:buSzPts val="2000"/>
              <a:buChar char="•"/>
              <a:defRPr sz="2000">
                <a:solidFill>
                  <a:srgbClr val="3F3F3F"/>
                </a:solidFill>
              </a:defRPr>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24" name="Google Shape;24;p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rgbClr val="3F3F3F"/>
              </a:buClr>
              <a:buSzPts val="2800"/>
              <a:buChar char="•"/>
              <a:defRPr sz="2800">
                <a:solidFill>
                  <a:srgbClr val="3F3F3F"/>
                </a:solidFill>
              </a:defRPr>
            </a:lvl1pPr>
            <a:lvl2pPr indent="-381000" lvl="1" marL="914400" algn="l">
              <a:spcBef>
                <a:spcPts val="480"/>
              </a:spcBef>
              <a:spcAft>
                <a:spcPts val="0"/>
              </a:spcAft>
              <a:buClr>
                <a:srgbClr val="3F3F3F"/>
              </a:buClr>
              <a:buSzPts val="2400"/>
              <a:buChar char="–"/>
              <a:defRPr sz="2400">
                <a:solidFill>
                  <a:srgbClr val="3F3F3F"/>
                </a:solidFill>
              </a:defRPr>
            </a:lvl2pPr>
            <a:lvl3pPr indent="-355600" lvl="2" marL="1371600" algn="l">
              <a:spcBef>
                <a:spcPts val="400"/>
              </a:spcBef>
              <a:spcAft>
                <a:spcPts val="0"/>
              </a:spcAft>
              <a:buClr>
                <a:srgbClr val="3F3F3F"/>
              </a:buClr>
              <a:buSzPts val="2000"/>
              <a:buChar char="•"/>
              <a:defRPr sz="2000">
                <a:solidFill>
                  <a:srgbClr val="3F3F3F"/>
                </a:solidFill>
              </a:defRPr>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5" name="Shape 25"/>
        <p:cNvGrpSpPr/>
        <p:nvPr/>
      </p:nvGrpSpPr>
      <p:grpSpPr>
        <a:xfrm>
          <a:off x="0" y="0"/>
          <a:ext cx="0" cy="0"/>
          <a:chOff x="0" y="0"/>
          <a:chExt cx="0" cy="0"/>
        </a:xfrm>
      </p:grpSpPr>
      <p:sp>
        <p:nvSpPr>
          <p:cNvPr id="26" name="Google Shape;26;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0"/>
          <p:cNvSpPr/>
          <p:nvPr>
            <p:ph idx="2" type="pic"/>
          </p:nvPr>
        </p:nvSpPr>
        <p:spPr>
          <a:xfrm>
            <a:off x="1792288" y="612775"/>
            <a:ext cx="5486400" cy="4114800"/>
          </a:xfrm>
          <a:prstGeom prst="rect">
            <a:avLst/>
          </a:prstGeom>
          <a:noFill/>
          <a:ln>
            <a:noFill/>
          </a:ln>
        </p:spPr>
      </p:sp>
      <p:sp>
        <p:nvSpPr>
          <p:cNvPr id="28" name="Google Shape;28;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rgbClr val="3F3F3F"/>
              </a:buClr>
              <a:buSzPts val="1400"/>
              <a:buNone/>
              <a:defRPr sz="1400">
                <a:solidFill>
                  <a:srgbClr val="3F3F3F"/>
                </a:solidFill>
              </a:defRPr>
            </a:lvl1pPr>
            <a:lvl2pPr indent="-228600" lvl="1" marL="914400" algn="l">
              <a:spcBef>
                <a:spcPts val="240"/>
              </a:spcBef>
              <a:spcAft>
                <a:spcPts val="0"/>
              </a:spcAft>
              <a:buClr>
                <a:srgbClr val="3F3F3F"/>
              </a:buClr>
              <a:buSzPts val="1200"/>
              <a:buNone/>
              <a:defRPr sz="1200"/>
            </a:lvl2pPr>
            <a:lvl3pPr indent="-228600" lvl="2" marL="1371600" algn="l">
              <a:spcBef>
                <a:spcPts val="200"/>
              </a:spcBef>
              <a:spcAft>
                <a:spcPts val="0"/>
              </a:spcAft>
              <a:buClr>
                <a:srgbClr val="3F3F3F"/>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5"/>
          <p:cNvSpPr txBox="1"/>
          <p:nvPr>
            <p:ph idx="1" type="body"/>
          </p:nvPr>
        </p:nvSpPr>
        <p:spPr>
          <a:xfrm>
            <a:off x="552450" y="2720975"/>
            <a:ext cx="8037513" cy="2070100"/>
          </a:xfrm>
          <a:prstGeom prst="rect">
            <a:avLst/>
          </a:prstGeom>
          <a:noFill/>
          <a:ln>
            <a:noFill/>
          </a:ln>
        </p:spPr>
        <p:txBody>
          <a:bodyPr anchorCtr="0" anchor="t" bIns="45700" lIns="91425" spcFirstLastPara="1" rIns="91425" wrap="square" tIns="45700">
            <a:noAutofit/>
          </a:bodyPr>
          <a:lstStyle>
            <a:lvl1pPr indent="-228600" lvl="0" marL="457200" marR="0" rtl="0" algn="ctr">
              <a:spcBef>
                <a:spcPts val="800"/>
              </a:spcBef>
              <a:spcAft>
                <a:spcPts val="0"/>
              </a:spcAft>
              <a:buSzPts val="1400"/>
              <a:buNone/>
              <a:defRPr b="1" i="0" sz="4000" u="none" cap="none" strike="noStrike">
                <a:solidFill>
                  <a:srgbClr val="064339"/>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grpSp>
        <p:nvGrpSpPr>
          <p:cNvPr id="7" name="Google Shape;7;p5"/>
          <p:cNvGrpSpPr/>
          <p:nvPr/>
        </p:nvGrpSpPr>
        <p:grpSpPr>
          <a:xfrm>
            <a:off x="2446151" y="344385"/>
            <a:ext cx="4386135" cy="891589"/>
            <a:chOff x="2446151" y="344385"/>
            <a:chExt cx="4386135" cy="891589"/>
          </a:xfrm>
        </p:grpSpPr>
        <p:pic>
          <p:nvPicPr>
            <p:cNvPr descr="Michigan State University logo" id="8" name="Google Shape;8;p5"/>
            <p:cNvPicPr preferRelativeResize="0"/>
            <p:nvPr/>
          </p:nvPicPr>
          <p:blipFill rotWithShape="1">
            <a:blip r:embed="rId1">
              <a:alphaModFix/>
            </a:blip>
            <a:srcRect b="0" l="0" r="0" t="0"/>
            <a:stretch/>
          </p:blipFill>
          <p:spPr>
            <a:xfrm>
              <a:off x="2692399" y="344385"/>
              <a:ext cx="3751401" cy="316676"/>
            </a:xfrm>
            <a:prstGeom prst="rect">
              <a:avLst/>
            </a:prstGeom>
            <a:noFill/>
            <a:ln>
              <a:noFill/>
            </a:ln>
          </p:spPr>
        </p:pic>
        <p:sp>
          <p:nvSpPr>
            <p:cNvPr id="9" name="Google Shape;9;p5"/>
            <p:cNvSpPr txBox="1"/>
            <p:nvPr/>
          </p:nvSpPr>
          <p:spPr>
            <a:xfrm>
              <a:off x="2446151" y="620421"/>
              <a:ext cx="4386135" cy="61555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3300" u="none" cap="none" strike="noStrike">
                  <a:solidFill>
                    <a:srgbClr val="008183"/>
                  </a:solidFill>
                  <a:latin typeface="Arial"/>
                  <a:ea typeface="Arial"/>
                  <a:cs typeface="Arial"/>
                  <a:sym typeface="Arial"/>
                </a:rPr>
                <a:t>SPARTANS WILL.</a:t>
              </a:r>
              <a:endParaRPr/>
            </a:p>
          </p:txBody>
        </p:sp>
      </p:grpSp>
    </p:spTree>
  </p:cSld>
  <p:clrMap accent1="accent1" accent2="accent2" accent3="accent3" accent4="accent4" accent5="accent5" accent6="accent6" bg1="lt1" bg2="dk2" tx1="dk1" tx2="lt2" folHlink="folHlink" hlink="hlink"/>
  <p:sldLayoutIdLst>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 name="Shape 14"/>
        <p:cNvGrpSpPr/>
        <p:nvPr/>
      </p:nvGrpSpPr>
      <p:grpSpPr>
        <a:xfrm>
          <a:off x="0" y="0"/>
          <a:ext cx="0" cy="0"/>
          <a:chOff x="0" y="0"/>
          <a:chExt cx="0" cy="0"/>
        </a:xfrm>
      </p:grpSpPr>
      <p:sp>
        <p:nvSpPr>
          <p:cNvPr id="15" name="Google Shape;15;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i="0" sz="4400" u="none" cap="none" strike="noStrike">
                <a:solidFill>
                  <a:srgbClr val="008183"/>
                </a:solidFill>
                <a:latin typeface="Arial"/>
                <a:ea typeface="Arial"/>
                <a:cs typeface="Arial"/>
                <a:sym typeface="Arial"/>
              </a:defRPr>
            </a:lvl1pPr>
            <a:lvl2pPr lvl="1" marR="0" rtl="0" algn="l">
              <a:spcBef>
                <a:spcPts val="0"/>
              </a:spcBef>
              <a:spcAft>
                <a:spcPts val="0"/>
              </a:spcAft>
              <a:buSzPts val="1400"/>
              <a:buNone/>
              <a:defRPr b="1" i="0" sz="4400" u="none" cap="none" strike="noStrike">
                <a:solidFill>
                  <a:srgbClr val="6BBD1B"/>
                </a:solidFill>
                <a:latin typeface="Arial"/>
                <a:ea typeface="Arial"/>
                <a:cs typeface="Arial"/>
                <a:sym typeface="Arial"/>
              </a:defRPr>
            </a:lvl2pPr>
            <a:lvl3pPr lvl="2" marR="0" rtl="0" algn="l">
              <a:spcBef>
                <a:spcPts val="0"/>
              </a:spcBef>
              <a:spcAft>
                <a:spcPts val="0"/>
              </a:spcAft>
              <a:buSzPts val="1400"/>
              <a:buNone/>
              <a:defRPr b="1" i="0" sz="4400" u="none" cap="none" strike="noStrike">
                <a:solidFill>
                  <a:srgbClr val="6BBD1B"/>
                </a:solidFill>
                <a:latin typeface="Arial"/>
                <a:ea typeface="Arial"/>
                <a:cs typeface="Arial"/>
                <a:sym typeface="Arial"/>
              </a:defRPr>
            </a:lvl3pPr>
            <a:lvl4pPr lvl="3" marR="0" rtl="0" algn="l">
              <a:spcBef>
                <a:spcPts val="0"/>
              </a:spcBef>
              <a:spcAft>
                <a:spcPts val="0"/>
              </a:spcAft>
              <a:buSzPts val="1400"/>
              <a:buNone/>
              <a:defRPr b="1" i="0" sz="4400" u="none" cap="none" strike="noStrike">
                <a:solidFill>
                  <a:srgbClr val="6BBD1B"/>
                </a:solidFill>
                <a:latin typeface="Arial"/>
                <a:ea typeface="Arial"/>
                <a:cs typeface="Arial"/>
                <a:sym typeface="Arial"/>
              </a:defRPr>
            </a:lvl4pPr>
            <a:lvl5pPr lvl="4" marR="0" rtl="0" algn="l">
              <a:spcBef>
                <a:spcPts val="0"/>
              </a:spcBef>
              <a:spcAft>
                <a:spcPts val="0"/>
              </a:spcAft>
              <a:buSzPts val="1400"/>
              <a:buNone/>
              <a:defRPr b="1" i="0" sz="4400" u="none" cap="none" strike="noStrike">
                <a:solidFill>
                  <a:srgbClr val="6BBD1B"/>
                </a:solidFill>
                <a:latin typeface="Arial"/>
                <a:ea typeface="Arial"/>
                <a:cs typeface="Arial"/>
                <a:sym typeface="Arial"/>
              </a:defRPr>
            </a:lvl5pPr>
            <a:lvl6pPr lvl="5" marR="0" rtl="0" algn="l">
              <a:spcBef>
                <a:spcPts val="0"/>
              </a:spcBef>
              <a:spcAft>
                <a:spcPts val="0"/>
              </a:spcAft>
              <a:buSzPts val="1400"/>
              <a:buNone/>
              <a:defRPr b="1" i="0" sz="4400" u="none" cap="none" strike="noStrike">
                <a:solidFill>
                  <a:srgbClr val="6BBD1B"/>
                </a:solidFill>
                <a:latin typeface="Arial"/>
                <a:ea typeface="Arial"/>
                <a:cs typeface="Arial"/>
                <a:sym typeface="Arial"/>
              </a:defRPr>
            </a:lvl6pPr>
            <a:lvl7pPr lvl="6" marR="0" rtl="0" algn="l">
              <a:spcBef>
                <a:spcPts val="0"/>
              </a:spcBef>
              <a:spcAft>
                <a:spcPts val="0"/>
              </a:spcAft>
              <a:buSzPts val="1400"/>
              <a:buNone/>
              <a:defRPr b="1" i="0" sz="4400" u="none" cap="none" strike="noStrike">
                <a:solidFill>
                  <a:srgbClr val="6BBD1B"/>
                </a:solidFill>
                <a:latin typeface="Arial"/>
                <a:ea typeface="Arial"/>
                <a:cs typeface="Arial"/>
                <a:sym typeface="Arial"/>
              </a:defRPr>
            </a:lvl7pPr>
            <a:lvl8pPr lvl="7" marR="0" rtl="0" algn="l">
              <a:spcBef>
                <a:spcPts val="0"/>
              </a:spcBef>
              <a:spcAft>
                <a:spcPts val="0"/>
              </a:spcAft>
              <a:buSzPts val="1400"/>
              <a:buNone/>
              <a:defRPr b="1" i="0" sz="4400" u="none" cap="none" strike="noStrike">
                <a:solidFill>
                  <a:srgbClr val="6BBD1B"/>
                </a:solidFill>
                <a:latin typeface="Arial"/>
                <a:ea typeface="Arial"/>
                <a:cs typeface="Arial"/>
                <a:sym typeface="Arial"/>
              </a:defRPr>
            </a:lvl8pPr>
            <a:lvl9pPr lvl="8" marR="0" rtl="0" algn="l">
              <a:spcBef>
                <a:spcPts val="0"/>
              </a:spcBef>
              <a:spcAft>
                <a:spcPts val="0"/>
              </a:spcAft>
              <a:buSzPts val="1400"/>
              <a:buNone/>
              <a:defRPr b="1" i="0" sz="4400" u="none" cap="none" strike="noStrike">
                <a:solidFill>
                  <a:srgbClr val="6BBD1B"/>
                </a:solidFill>
                <a:latin typeface="Arial"/>
                <a:ea typeface="Arial"/>
                <a:cs typeface="Arial"/>
                <a:sym typeface="Arial"/>
              </a:defRPr>
            </a:lvl9pPr>
          </a:lstStyle>
          <a:p/>
        </p:txBody>
      </p:sp>
      <p:sp>
        <p:nvSpPr>
          <p:cNvPr id="16" name="Google Shape;16;p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rgbClr val="3F3F3F"/>
              </a:buClr>
              <a:buSzPts val="3200"/>
              <a:buFont typeface="Arial"/>
              <a:buChar char="•"/>
              <a:defRPr b="0" i="0" sz="3200" u="none" cap="none" strike="noStrike">
                <a:solidFill>
                  <a:srgbClr val="3F3F3F"/>
                </a:solidFill>
                <a:latin typeface="Arial"/>
                <a:ea typeface="Arial"/>
                <a:cs typeface="Arial"/>
                <a:sym typeface="Arial"/>
              </a:defRPr>
            </a:lvl1pPr>
            <a:lvl2pPr indent="-406400" lvl="1" marL="914400" marR="0" rtl="0" algn="l">
              <a:spcBef>
                <a:spcPts val="560"/>
              </a:spcBef>
              <a:spcAft>
                <a:spcPts val="0"/>
              </a:spcAft>
              <a:buClr>
                <a:srgbClr val="3F3F3F"/>
              </a:buClr>
              <a:buSzPts val="2800"/>
              <a:buFont typeface="Arial"/>
              <a:buChar char="–"/>
              <a:defRPr b="0" i="0" sz="2800" u="none" cap="none" strike="noStrike">
                <a:solidFill>
                  <a:srgbClr val="3F3F3F"/>
                </a:solidFill>
                <a:latin typeface="Arial"/>
                <a:ea typeface="Arial"/>
                <a:cs typeface="Arial"/>
                <a:sym typeface="Arial"/>
              </a:defRPr>
            </a:lvl2pPr>
            <a:lvl3pPr indent="-381000" lvl="2" marL="1371600" marR="0" rtl="0" algn="l">
              <a:spcBef>
                <a:spcPts val="480"/>
              </a:spcBef>
              <a:spcAft>
                <a:spcPts val="0"/>
              </a:spcAft>
              <a:buClr>
                <a:srgbClr val="3F3F3F"/>
              </a:buClr>
              <a:buSzPts val="2400"/>
              <a:buFont typeface="Arial"/>
              <a:buChar char="•"/>
              <a:defRPr b="0" i="0" sz="2400" u="none" cap="none" strike="noStrike">
                <a:solidFill>
                  <a:srgbClr val="3F3F3F"/>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pic>
        <p:nvPicPr>
          <p:cNvPr descr="Michigan State University logo" id="17" name="Google Shape;17;p7"/>
          <p:cNvPicPr preferRelativeResize="0"/>
          <p:nvPr/>
        </p:nvPicPr>
        <p:blipFill rotWithShape="1">
          <a:blip r:embed="rId1">
            <a:alphaModFix/>
          </a:blip>
          <a:srcRect b="0" l="0" r="0" t="0"/>
          <a:stretch/>
        </p:blipFill>
        <p:spPr>
          <a:xfrm>
            <a:off x="3643313" y="6544689"/>
            <a:ext cx="1858962" cy="15692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1" r:id="rId2"/>
    <p:sldLayoutId id="2147483652" r:id="rId3"/>
    <p:sldLayoutId id="2147483653"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youtu.be/fvtrRGmv7aU?si=Re3_w0-QTufyJDF0" TargetMode="External"/><Relationship Id="rId4" Type="http://schemas.openxmlformats.org/officeDocument/2006/relationships/hyperlink" Target="https://youtu.be/uMzUB89uSxU?si=ZxqFTkpYKmrHIsBn" TargetMode="External"/><Relationship Id="rId5" Type="http://schemas.openxmlformats.org/officeDocument/2006/relationships/hyperlink" Target="https://www.youtube.com/watch?v=J4RqCSD--Dg" TargetMode="External"/><Relationship Id="rId6" Type="http://schemas.openxmlformats.org/officeDocument/2006/relationships/hyperlink" Target="https://youtu.be/cNvxNOMLS7I?si=9sTVvx4_xn_fEC2w" TargetMode="External"/><Relationship Id="rId7" Type="http://schemas.openxmlformats.org/officeDocument/2006/relationships/hyperlink" Target="https://www.ibm.com/think/topics/artificial-intelligence"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medium.com/womenintechnology/ai-c3412c5aa0ac"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 name="Shape 32"/>
        <p:cNvGrpSpPr/>
        <p:nvPr/>
      </p:nvGrpSpPr>
      <p:grpSpPr>
        <a:xfrm>
          <a:off x="0" y="0"/>
          <a:ext cx="0" cy="0"/>
          <a:chOff x="0" y="0"/>
          <a:chExt cx="0" cy="0"/>
        </a:xfrm>
      </p:grpSpPr>
      <p:sp>
        <p:nvSpPr>
          <p:cNvPr id="33" name="Google Shape;33;p2"/>
          <p:cNvSpPr txBox="1"/>
          <p:nvPr>
            <p:ph type="ctrTitle"/>
          </p:nvPr>
        </p:nvSpPr>
        <p:spPr>
          <a:xfrm>
            <a:off x="980966" y="1272080"/>
            <a:ext cx="7190828" cy="117157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Week 1 Session B</a:t>
            </a:r>
            <a:endParaRPr/>
          </a:p>
        </p:txBody>
      </p:sp>
      <p:sp>
        <p:nvSpPr>
          <p:cNvPr id="34" name="Google Shape;34;p2"/>
          <p:cNvSpPr txBox="1"/>
          <p:nvPr>
            <p:ph idx="1" type="subTitle"/>
          </p:nvPr>
        </p:nvSpPr>
        <p:spPr>
          <a:xfrm>
            <a:off x="980966" y="2808451"/>
            <a:ext cx="7190828" cy="1752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rgbClr val="3F3F3F"/>
              </a:buClr>
              <a:buSzPts val="3200"/>
              <a:buNone/>
            </a:pPr>
            <a:r>
              <a:rPr lang="en-US" sz="3000"/>
              <a:t>Thursday, Jan 15 2026</a:t>
            </a:r>
            <a:endParaRPr sz="3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 name="Shape 38"/>
        <p:cNvGrpSpPr/>
        <p:nvPr/>
      </p:nvGrpSpPr>
      <p:grpSpPr>
        <a:xfrm>
          <a:off x="0" y="0"/>
          <a:ext cx="0" cy="0"/>
          <a:chOff x="0" y="0"/>
          <a:chExt cx="0" cy="0"/>
        </a:xfrm>
      </p:grpSpPr>
      <p:sp>
        <p:nvSpPr>
          <p:cNvPr id="39" name="Google Shape;39;g3b81fcc07d7_0_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AI in Our Lives</a:t>
            </a:r>
            <a:endParaRPr/>
          </a:p>
        </p:txBody>
      </p:sp>
      <p:sp>
        <p:nvSpPr>
          <p:cNvPr id="40" name="Google Shape;40;g3b81fcc07d7_0_26"/>
          <p:cNvSpPr txBox="1"/>
          <p:nvPr>
            <p:ph idx="1" type="body"/>
          </p:nvPr>
        </p:nvSpPr>
        <p:spPr>
          <a:xfrm>
            <a:off x="457200" y="1600200"/>
            <a:ext cx="4038600" cy="4526100"/>
          </a:xfrm>
          <a:prstGeom prst="rect">
            <a:avLst/>
          </a:prstGeom>
          <a:noFill/>
          <a:ln>
            <a:noFill/>
          </a:ln>
        </p:spPr>
        <p:txBody>
          <a:bodyPr anchorCtr="0" anchor="t" bIns="45700" lIns="91425" spcFirstLastPara="1" rIns="91425" wrap="square" tIns="45700">
            <a:noAutofit/>
          </a:bodyPr>
          <a:lstStyle/>
          <a:p>
            <a:pPr indent="-406400" lvl="0" marL="457200" rtl="0" algn="l">
              <a:spcBef>
                <a:spcPts val="0"/>
              </a:spcBef>
              <a:spcAft>
                <a:spcPts val="0"/>
              </a:spcAft>
              <a:buSzPts val="2800"/>
              <a:buChar char="•"/>
            </a:pPr>
            <a:r>
              <a:rPr lang="en-US"/>
              <a:t>Where do you see it?</a:t>
            </a:r>
            <a:endParaRPr/>
          </a:p>
          <a:p>
            <a:pPr indent="-406400" lvl="0" marL="457200" rtl="0" algn="l">
              <a:spcBef>
                <a:spcPts val="0"/>
              </a:spcBef>
              <a:spcAft>
                <a:spcPts val="0"/>
              </a:spcAft>
              <a:buSzPts val="2800"/>
              <a:buChar char="•"/>
            </a:pPr>
            <a:r>
              <a:rPr lang="en-US"/>
              <a:t>What applications do you think use AI?</a:t>
            </a:r>
            <a:endParaRPr/>
          </a:p>
        </p:txBody>
      </p:sp>
      <p:sp>
        <p:nvSpPr>
          <p:cNvPr id="41" name="Google Shape;41;g3b81fcc07d7_0_26"/>
          <p:cNvSpPr txBox="1"/>
          <p:nvPr>
            <p:ph idx="2" type="body"/>
          </p:nvPr>
        </p:nvSpPr>
        <p:spPr>
          <a:xfrm>
            <a:off x="4648200" y="1600200"/>
            <a:ext cx="4038600" cy="4526100"/>
          </a:xfrm>
          <a:prstGeom prst="rect">
            <a:avLst/>
          </a:prstGeom>
          <a:noFill/>
          <a:ln>
            <a:noFill/>
          </a:ln>
        </p:spPr>
        <p:txBody>
          <a:bodyPr anchorCtr="0" anchor="t" bIns="45700" lIns="91425" spcFirstLastPara="1" rIns="91425" wrap="square" tIns="45700">
            <a:noAutofit/>
          </a:bodyPr>
          <a:lstStyle/>
          <a:p>
            <a:pPr indent="-406400" lvl="0" marL="457200" rtl="0" algn="l">
              <a:spcBef>
                <a:spcPts val="0"/>
              </a:spcBef>
              <a:spcAft>
                <a:spcPts val="0"/>
              </a:spcAft>
              <a:buSzPts val="2800"/>
              <a:buChar char="-"/>
            </a:pPr>
            <a:r>
              <a:rPr lang="en-US"/>
              <a:t>Create a Google doc and we will work on it together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g3b81fcc07d7_0_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sz="4100"/>
              <a:t>What is Artificial Intelligence? (I)</a:t>
            </a:r>
            <a:endParaRPr sz="4100"/>
          </a:p>
        </p:txBody>
      </p:sp>
      <p:sp>
        <p:nvSpPr>
          <p:cNvPr id="47" name="Google Shape;47;g3b81fcc07d7_0_0"/>
          <p:cNvSpPr txBox="1"/>
          <p:nvPr>
            <p:ph idx="1" type="body"/>
          </p:nvPr>
        </p:nvSpPr>
        <p:spPr>
          <a:xfrm>
            <a:off x="457200" y="1600200"/>
            <a:ext cx="4482600" cy="4526100"/>
          </a:xfrm>
          <a:prstGeom prst="rect">
            <a:avLst/>
          </a:prstGeom>
          <a:noFill/>
          <a:ln>
            <a:noFill/>
          </a:ln>
        </p:spPr>
        <p:txBody>
          <a:bodyPr anchorCtr="0" anchor="t" bIns="45700" lIns="91425" spcFirstLastPara="1" rIns="91425" wrap="square" tIns="45700">
            <a:noAutofit/>
          </a:bodyPr>
          <a:lstStyle/>
          <a:p>
            <a:pPr indent="-406400" lvl="0" marL="457200" rtl="0" algn="l">
              <a:spcBef>
                <a:spcPts val="0"/>
              </a:spcBef>
              <a:spcAft>
                <a:spcPts val="0"/>
              </a:spcAft>
              <a:buSzPts val="2800"/>
              <a:buChar char="•"/>
            </a:pPr>
            <a:r>
              <a:rPr lang="en-US"/>
              <a:t>What do people say?</a:t>
            </a:r>
            <a:endParaRPr/>
          </a:p>
          <a:p>
            <a:pPr indent="-381000" lvl="1" marL="914400" rtl="0" algn="l">
              <a:spcBef>
                <a:spcPts val="0"/>
              </a:spcBef>
              <a:spcAft>
                <a:spcPts val="0"/>
              </a:spcAft>
              <a:buSzPts val="2400"/>
              <a:buChar char="–"/>
            </a:pPr>
            <a:r>
              <a:rPr lang="en-US" u="sng">
                <a:solidFill>
                  <a:schemeClr val="hlink"/>
                </a:solidFill>
                <a:hlinkClick r:id="rId3"/>
              </a:rPr>
              <a:t>BBC clip</a:t>
            </a:r>
            <a:endParaRPr/>
          </a:p>
          <a:p>
            <a:pPr indent="-381000" lvl="1" marL="914400" rtl="0" algn="l">
              <a:spcBef>
                <a:spcPts val="0"/>
              </a:spcBef>
              <a:spcAft>
                <a:spcPts val="0"/>
              </a:spcAft>
              <a:buSzPts val="2400"/>
              <a:buChar char="–"/>
            </a:pPr>
            <a:r>
              <a:rPr lang="en-US" u="sng">
                <a:solidFill>
                  <a:schemeClr val="hlink"/>
                </a:solidFill>
                <a:hlinkClick r:id="rId4"/>
              </a:rPr>
              <a:t>Simplilearn</a:t>
            </a:r>
            <a:endParaRPr/>
          </a:p>
          <a:p>
            <a:pPr indent="-381000" lvl="1" marL="914400" rtl="0" algn="l">
              <a:spcBef>
                <a:spcPts val="0"/>
              </a:spcBef>
              <a:spcAft>
                <a:spcPts val="0"/>
              </a:spcAft>
              <a:buSzPts val="2400"/>
              <a:buChar char="–"/>
            </a:pPr>
            <a:r>
              <a:rPr lang="en-US" u="sng">
                <a:solidFill>
                  <a:schemeClr val="hlink"/>
                </a:solidFill>
                <a:hlinkClick r:id="rId5"/>
              </a:rPr>
              <a:t>LearnFree</a:t>
            </a:r>
            <a:endParaRPr/>
          </a:p>
          <a:p>
            <a:pPr indent="-381000" lvl="1" marL="914400" rtl="0" algn="l">
              <a:spcBef>
                <a:spcPts val="0"/>
              </a:spcBef>
              <a:spcAft>
                <a:spcPts val="0"/>
              </a:spcAft>
              <a:buSzPts val="2400"/>
              <a:buChar char="–"/>
            </a:pPr>
            <a:r>
              <a:rPr lang="en-US" u="sng">
                <a:solidFill>
                  <a:schemeClr val="hlink"/>
                </a:solidFill>
                <a:hlinkClick r:id="rId6"/>
              </a:rPr>
              <a:t>WhiteboardDoodles</a:t>
            </a:r>
            <a:endParaRPr/>
          </a:p>
          <a:p>
            <a:pPr indent="-381000" lvl="1" marL="914400" rtl="0" algn="l">
              <a:spcBef>
                <a:spcPts val="0"/>
              </a:spcBef>
              <a:spcAft>
                <a:spcPts val="0"/>
              </a:spcAft>
              <a:buSzPts val="2400"/>
              <a:buChar char="–"/>
            </a:pPr>
            <a:r>
              <a:rPr lang="en-US" u="sng">
                <a:solidFill>
                  <a:schemeClr val="hlink"/>
                </a:solidFill>
                <a:hlinkClick r:id="rId7"/>
              </a:rPr>
              <a:t>From IBM</a:t>
            </a:r>
            <a:endParaRPr/>
          </a:p>
        </p:txBody>
      </p:sp>
      <p:sp>
        <p:nvSpPr>
          <p:cNvPr id="48" name="Google Shape;48;g3b81fcc07d7_0_0"/>
          <p:cNvSpPr txBox="1"/>
          <p:nvPr>
            <p:ph idx="1" type="body"/>
          </p:nvPr>
        </p:nvSpPr>
        <p:spPr>
          <a:xfrm>
            <a:off x="4572000" y="1600200"/>
            <a:ext cx="4114800" cy="4029000"/>
          </a:xfrm>
          <a:prstGeom prst="rect">
            <a:avLst/>
          </a:prstGeom>
          <a:noFill/>
          <a:ln>
            <a:noFill/>
          </a:ln>
        </p:spPr>
        <p:txBody>
          <a:bodyPr anchorCtr="0" anchor="t" bIns="45700" lIns="91425" spcFirstLastPara="1" rIns="91425" wrap="square" tIns="45700">
            <a:noAutofit/>
          </a:bodyPr>
          <a:lstStyle/>
          <a:p>
            <a:pPr indent="-406400" lvl="0" marL="457200" rtl="0" algn="l">
              <a:spcBef>
                <a:spcPts val="0"/>
              </a:spcBef>
              <a:spcAft>
                <a:spcPts val="0"/>
              </a:spcAft>
              <a:buSzPts val="2800"/>
              <a:buChar char="•"/>
            </a:pPr>
            <a:r>
              <a:rPr lang="en-US"/>
              <a:t>Now let’s judge them</a:t>
            </a:r>
            <a:endParaRPr/>
          </a:p>
          <a:p>
            <a:pPr indent="-381000" lvl="1" marL="914400" rtl="0" algn="l">
              <a:spcBef>
                <a:spcPts val="0"/>
              </a:spcBef>
              <a:spcAft>
                <a:spcPts val="0"/>
              </a:spcAft>
              <a:buSzPts val="2400"/>
              <a:buChar char="–"/>
            </a:pPr>
            <a:r>
              <a:rPr lang="en-US"/>
              <a:t>When was the source published?</a:t>
            </a:r>
            <a:endParaRPr/>
          </a:p>
          <a:p>
            <a:pPr indent="-381000" lvl="1" marL="914400" rtl="0" algn="l">
              <a:spcBef>
                <a:spcPts val="0"/>
              </a:spcBef>
              <a:spcAft>
                <a:spcPts val="0"/>
              </a:spcAft>
              <a:buSzPts val="2400"/>
              <a:buChar char="–"/>
            </a:pPr>
            <a:r>
              <a:rPr lang="en-US"/>
              <a:t>Who published them?</a:t>
            </a:r>
            <a:endParaRPr/>
          </a:p>
          <a:p>
            <a:pPr indent="-381000" lvl="1" marL="914400" rtl="0" algn="l">
              <a:spcBef>
                <a:spcPts val="0"/>
              </a:spcBef>
              <a:spcAft>
                <a:spcPts val="0"/>
              </a:spcAft>
              <a:buSzPts val="2400"/>
              <a:buChar char="–"/>
            </a:pPr>
            <a:r>
              <a:rPr lang="en-US"/>
              <a:t>Are you seeing any </a:t>
            </a:r>
            <a:r>
              <a:rPr lang="en-US"/>
              <a:t>contraindication? Who might be right?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g3b82680a637_0_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sz="4000"/>
              <a:t>What is Artificial Intelligence? (II)</a:t>
            </a:r>
            <a:endParaRPr sz="4000"/>
          </a:p>
        </p:txBody>
      </p:sp>
      <p:sp>
        <p:nvSpPr>
          <p:cNvPr id="54" name="Google Shape;54;g3b82680a637_0_23"/>
          <p:cNvSpPr txBox="1"/>
          <p:nvPr>
            <p:ph idx="1" type="body"/>
          </p:nvPr>
        </p:nvSpPr>
        <p:spPr>
          <a:xfrm>
            <a:off x="457200" y="1600200"/>
            <a:ext cx="7848900" cy="925200"/>
          </a:xfrm>
          <a:prstGeom prst="rect">
            <a:avLst/>
          </a:prstGeom>
          <a:noFill/>
          <a:ln>
            <a:noFill/>
          </a:ln>
        </p:spPr>
        <p:txBody>
          <a:bodyPr anchorCtr="0" anchor="t" bIns="45700" lIns="91425" spcFirstLastPara="1" rIns="91425" wrap="square" tIns="45700">
            <a:noAutofit/>
          </a:bodyPr>
          <a:lstStyle/>
          <a:p>
            <a:pPr indent="-406400" lvl="0" marL="457200" rtl="0" algn="l">
              <a:spcBef>
                <a:spcPts val="0"/>
              </a:spcBef>
              <a:spcAft>
                <a:spcPts val="0"/>
              </a:spcAft>
              <a:buSzPts val="2800"/>
              <a:buChar char="•"/>
            </a:pPr>
            <a:r>
              <a:rPr lang="en-US"/>
              <a:t>Turing Test “The Imitation Game” (1950)</a:t>
            </a:r>
            <a:endParaRPr/>
          </a:p>
        </p:txBody>
      </p:sp>
      <p:pic>
        <p:nvPicPr>
          <p:cNvPr id="55" name="Google Shape;55;g3b82680a637_0_23"/>
          <p:cNvPicPr preferRelativeResize="0"/>
          <p:nvPr/>
        </p:nvPicPr>
        <p:blipFill>
          <a:blip r:embed="rId3">
            <a:alphaModFix/>
          </a:blip>
          <a:stretch>
            <a:fillRect/>
          </a:stretch>
        </p:blipFill>
        <p:spPr>
          <a:xfrm>
            <a:off x="372750" y="2218313"/>
            <a:ext cx="3899399" cy="2973218"/>
          </a:xfrm>
          <a:prstGeom prst="rect">
            <a:avLst/>
          </a:prstGeom>
          <a:noFill/>
          <a:ln>
            <a:noFill/>
          </a:ln>
        </p:spPr>
      </p:pic>
      <p:pic>
        <p:nvPicPr>
          <p:cNvPr id="56" name="Google Shape;56;g3b82680a637_0_23" title="Screenshot 2026-01-15 at 14.13.17.png"/>
          <p:cNvPicPr preferRelativeResize="0"/>
          <p:nvPr/>
        </p:nvPicPr>
        <p:blipFill>
          <a:blip r:embed="rId4">
            <a:alphaModFix/>
          </a:blip>
          <a:stretch>
            <a:fillRect/>
          </a:stretch>
        </p:blipFill>
        <p:spPr>
          <a:xfrm>
            <a:off x="3667175" y="4443199"/>
            <a:ext cx="5577249" cy="22843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g3b82680a637_0_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sz="3900"/>
              <a:t>What is Artificial Intelligence? (III)</a:t>
            </a:r>
            <a:endParaRPr sz="3900"/>
          </a:p>
        </p:txBody>
      </p:sp>
      <p:sp>
        <p:nvSpPr>
          <p:cNvPr id="62" name="Google Shape;62;g3b82680a637_0_37"/>
          <p:cNvSpPr txBox="1"/>
          <p:nvPr>
            <p:ph idx="1" type="body"/>
          </p:nvPr>
        </p:nvSpPr>
        <p:spPr>
          <a:xfrm>
            <a:off x="457200" y="1600200"/>
            <a:ext cx="8153400" cy="2663700"/>
          </a:xfrm>
          <a:prstGeom prst="rect">
            <a:avLst/>
          </a:prstGeom>
          <a:noFill/>
          <a:ln>
            <a:noFill/>
          </a:ln>
        </p:spPr>
        <p:txBody>
          <a:bodyPr anchorCtr="0" anchor="t" bIns="45700" lIns="91425" spcFirstLastPara="1" rIns="91425" wrap="square" tIns="45700">
            <a:noAutofit/>
          </a:bodyPr>
          <a:lstStyle/>
          <a:p>
            <a:pPr indent="-406400" lvl="0" marL="457200" rtl="0" algn="l">
              <a:spcBef>
                <a:spcPts val="0"/>
              </a:spcBef>
              <a:spcAft>
                <a:spcPts val="0"/>
              </a:spcAft>
              <a:buSzPts val="2800"/>
              <a:buChar char="•"/>
            </a:pPr>
            <a:r>
              <a:rPr lang="en-US"/>
              <a:t>Applications:</a:t>
            </a:r>
            <a:endParaRPr/>
          </a:p>
          <a:p>
            <a:pPr indent="-381000" lvl="1" marL="914400" rtl="0" algn="l">
              <a:spcBef>
                <a:spcPts val="1000"/>
              </a:spcBef>
              <a:spcAft>
                <a:spcPts val="0"/>
              </a:spcAft>
              <a:buSzPts val="2400"/>
              <a:buChar char="–"/>
            </a:pPr>
            <a:r>
              <a:rPr lang="en-US"/>
              <a:t>Google AlphaGo vs Lee Sedol (2016): Go game</a:t>
            </a:r>
            <a:endParaRPr/>
          </a:p>
          <a:p>
            <a:pPr indent="-355600" lvl="2" marL="1371600" rtl="0" algn="l">
              <a:spcBef>
                <a:spcPts val="1000"/>
              </a:spcBef>
              <a:spcAft>
                <a:spcPts val="0"/>
              </a:spcAft>
              <a:buSzPts val="2000"/>
              <a:buChar char="•"/>
            </a:pPr>
            <a:r>
              <a:rPr lang="en-US"/>
              <a:t>AlphaGo Movie 2017</a:t>
            </a:r>
            <a:endParaRPr/>
          </a:p>
          <a:p>
            <a:pPr indent="-381000" lvl="1" marL="914400" rtl="0" algn="l">
              <a:spcBef>
                <a:spcPts val="1000"/>
              </a:spcBef>
              <a:spcAft>
                <a:spcPts val="1000"/>
              </a:spcAft>
              <a:buSzPts val="2400"/>
              <a:buChar char="–"/>
            </a:pPr>
            <a:r>
              <a:rPr lang="en-US"/>
              <a:t>Garry Kasparov vs IBM computer Deep Blue (1997): chess match</a:t>
            </a:r>
            <a:endParaRPr/>
          </a:p>
        </p:txBody>
      </p:sp>
      <p:pic>
        <p:nvPicPr>
          <p:cNvPr id="63" name="Google Shape;63;g3b82680a637_0_37"/>
          <p:cNvPicPr preferRelativeResize="0"/>
          <p:nvPr/>
        </p:nvPicPr>
        <p:blipFill>
          <a:blip r:embed="rId3">
            <a:alphaModFix/>
          </a:blip>
          <a:stretch>
            <a:fillRect/>
          </a:stretch>
        </p:blipFill>
        <p:spPr>
          <a:xfrm>
            <a:off x="4229175" y="4027225"/>
            <a:ext cx="4381434" cy="22892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Look at the Onion (Hierarchy)</a:t>
            </a:r>
            <a:endParaRPr/>
          </a:p>
        </p:txBody>
      </p:sp>
      <p:sp>
        <p:nvSpPr>
          <p:cNvPr id="69" name="Google Shape;69;p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p>
            <a:pPr indent="-165100" lvl="0" marL="342900" rtl="0" algn="l">
              <a:spcBef>
                <a:spcPts val="0"/>
              </a:spcBef>
              <a:spcAft>
                <a:spcPts val="0"/>
              </a:spcAft>
              <a:buClr>
                <a:srgbClr val="3F3F3F"/>
              </a:buClr>
              <a:buSzPts val="2800"/>
              <a:buNone/>
            </a:pPr>
            <a:r>
              <a:t/>
            </a:r>
            <a:endParaRPr/>
          </a:p>
        </p:txBody>
      </p:sp>
      <p:pic>
        <p:nvPicPr>
          <p:cNvPr id="70" name="Google Shape;70;p3"/>
          <p:cNvPicPr preferRelativeResize="0"/>
          <p:nvPr/>
        </p:nvPicPr>
        <p:blipFill>
          <a:blip r:embed="rId3">
            <a:alphaModFix/>
          </a:blip>
          <a:stretch>
            <a:fillRect/>
          </a:stretch>
        </p:blipFill>
        <p:spPr>
          <a:xfrm>
            <a:off x="4572000" y="1574738"/>
            <a:ext cx="4343400" cy="4343400"/>
          </a:xfrm>
          <a:prstGeom prst="rect">
            <a:avLst/>
          </a:prstGeom>
          <a:noFill/>
          <a:ln>
            <a:noFill/>
          </a:ln>
        </p:spPr>
      </p:pic>
      <p:pic>
        <p:nvPicPr>
          <p:cNvPr id="71" name="Google Shape;71;p3" title="section2visual.png"/>
          <p:cNvPicPr preferRelativeResize="0"/>
          <p:nvPr/>
        </p:nvPicPr>
        <p:blipFill>
          <a:blip r:embed="rId4">
            <a:alphaModFix/>
          </a:blip>
          <a:stretch>
            <a:fillRect/>
          </a:stretch>
        </p:blipFill>
        <p:spPr>
          <a:xfrm>
            <a:off x="103275" y="1600200"/>
            <a:ext cx="4127400" cy="42924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g3b82680a637_0_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Machine Learning</a:t>
            </a:r>
            <a:endParaRPr/>
          </a:p>
        </p:txBody>
      </p:sp>
      <p:sp>
        <p:nvSpPr>
          <p:cNvPr id="77" name="Google Shape;77;g3b82680a637_0_50"/>
          <p:cNvSpPr txBox="1"/>
          <p:nvPr>
            <p:ph idx="1" type="body"/>
          </p:nvPr>
        </p:nvSpPr>
        <p:spPr>
          <a:xfrm>
            <a:off x="457200" y="1600200"/>
            <a:ext cx="4038600" cy="4526100"/>
          </a:xfrm>
          <a:prstGeom prst="rect">
            <a:avLst/>
          </a:prstGeom>
          <a:noFill/>
          <a:ln>
            <a:noFill/>
          </a:ln>
        </p:spPr>
        <p:txBody>
          <a:bodyPr anchorCtr="0" anchor="t" bIns="45700" lIns="91425" spcFirstLastPara="1" rIns="91425" wrap="square" tIns="45700">
            <a:noAutofit/>
          </a:bodyPr>
          <a:lstStyle/>
          <a:p>
            <a:pPr indent="-355600" lvl="0" marL="457200" rtl="0" algn="l">
              <a:spcBef>
                <a:spcPts val="0"/>
              </a:spcBef>
              <a:spcAft>
                <a:spcPts val="0"/>
              </a:spcAft>
              <a:buSzPts val="2000"/>
              <a:buChar char="•"/>
            </a:pPr>
            <a:r>
              <a:rPr lang="en-US" sz="2000"/>
              <a:t>Machine learning is a branch of AI.</a:t>
            </a:r>
            <a:endParaRPr sz="2000"/>
          </a:p>
          <a:p>
            <a:pPr indent="-355600" lvl="0" marL="457200" rtl="0" algn="l">
              <a:spcBef>
                <a:spcPts val="0"/>
              </a:spcBef>
              <a:spcAft>
                <a:spcPts val="0"/>
              </a:spcAft>
              <a:buSzPts val="2000"/>
              <a:buChar char="•"/>
            </a:pPr>
            <a:r>
              <a:rPr lang="en-US" sz="2000"/>
              <a:t>Machine Learning refers to the methods and algorithms that enable AI systems to identify patterns, make decisions, and improve themselves through all sources of input data (Sun et al.).</a:t>
            </a:r>
            <a:endParaRPr sz="2000"/>
          </a:p>
        </p:txBody>
      </p:sp>
      <p:sp>
        <p:nvSpPr>
          <p:cNvPr id="78" name="Google Shape;78;g3b82680a637_0_50"/>
          <p:cNvSpPr txBox="1"/>
          <p:nvPr>
            <p:ph idx="2" type="body"/>
          </p:nvPr>
        </p:nvSpPr>
        <p:spPr>
          <a:xfrm>
            <a:off x="4572000" y="1588231"/>
            <a:ext cx="4114800" cy="4526100"/>
          </a:xfrm>
          <a:prstGeom prst="rect">
            <a:avLst/>
          </a:prstGeom>
          <a:noFill/>
          <a:ln>
            <a:noFill/>
          </a:ln>
        </p:spPr>
        <p:txBody>
          <a:bodyPr anchorCtr="0" anchor="t" bIns="45700" lIns="91425" spcFirstLastPara="1" rIns="91425" wrap="square" tIns="45700">
            <a:noAutofit/>
          </a:bodyPr>
          <a:lstStyle/>
          <a:p>
            <a:pPr indent="-355600" lvl="0" marL="457200" rtl="0" algn="l">
              <a:spcBef>
                <a:spcPts val="0"/>
              </a:spcBef>
              <a:spcAft>
                <a:spcPts val="0"/>
              </a:spcAft>
              <a:buSzPts val="2000"/>
              <a:buChar char="•"/>
            </a:pPr>
            <a:r>
              <a:rPr lang="en-US" sz="2000"/>
              <a:t>Applications:</a:t>
            </a:r>
            <a:endParaRPr sz="2000"/>
          </a:p>
          <a:p>
            <a:pPr indent="-355600" lvl="1" marL="914400" rtl="0" algn="l">
              <a:spcBef>
                <a:spcPts val="0"/>
              </a:spcBef>
              <a:spcAft>
                <a:spcPts val="0"/>
              </a:spcAft>
              <a:buSzPts val="2000"/>
              <a:buChar char="–"/>
            </a:pPr>
            <a:r>
              <a:rPr lang="en-US" sz="2000"/>
              <a:t>Siri, Alexa</a:t>
            </a:r>
            <a:endParaRPr sz="2000"/>
          </a:p>
          <a:p>
            <a:pPr indent="-355600" lvl="1" marL="914400" rtl="0" algn="l">
              <a:spcBef>
                <a:spcPts val="0"/>
              </a:spcBef>
              <a:spcAft>
                <a:spcPts val="0"/>
              </a:spcAft>
              <a:buSzPts val="2000"/>
              <a:buChar char="–"/>
            </a:pPr>
            <a:r>
              <a:rPr lang="en-US" sz="2000"/>
              <a:t>Amazon’s recommendation system</a:t>
            </a:r>
            <a:endParaRPr sz="2000"/>
          </a:p>
          <a:p>
            <a:pPr indent="-355600" lvl="1" marL="914400" rtl="0" algn="l">
              <a:spcBef>
                <a:spcPts val="0"/>
              </a:spcBef>
              <a:spcAft>
                <a:spcPts val="0"/>
              </a:spcAft>
              <a:buSzPts val="2000"/>
              <a:buChar char="–"/>
            </a:pPr>
            <a:r>
              <a:rPr lang="en-US" sz="2000"/>
              <a:t>Speech language recognition</a:t>
            </a:r>
            <a:endParaRPr sz="2000"/>
          </a:p>
          <a:p>
            <a:pPr indent="-355600" lvl="1" marL="914400" rtl="0" algn="l">
              <a:spcBef>
                <a:spcPts val="0"/>
              </a:spcBef>
              <a:spcAft>
                <a:spcPts val="0"/>
              </a:spcAft>
              <a:buSzPts val="2000"/>
              <a:buChar char="–"/>
            </a:pPr>
            <a:r>
              <a:rPr lang="en-US" sz="2000"/>
              <a:t>Spotify’s daily mix</a:t>
            </a:r>
            <a:endParaRPr sz="2000"/>
          </a:p>
        </p:txBody>
      </p:sp>
      <p:pic>
        <p:nvPicPr>
          <p:cNvPr id="79" name="Google Shape;79;g3b82680a637_0_50"/>
          <p:cNvPicPr preferRelativeResize="0"/>
          <p:nvPr/>
        </p:nvPicPr>
        <p:blipFill>
          <a:blip r:embed="rId3">
            <a:alphaModFix/>
          </a:blip>
          <a:stretch>
            <a:fillRect/>
          </a:stretch>
        </p:blipFill>
        <p:spPr>
          <a:xfrm>
            <a:off x="5153175" y="4076852"/>
            <a:ext cx="3741324" cy="2676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g3b82680a637_0_5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Neural Network</a:t>
            </a:r>
            <a:endParaRPr/>
          </a:p>
        </p:txBody>
      </p:sp>
      <p:sp>
        <p:nvSpPr>
          <p:cNvPr id="85" name="Google Shape;85;g3b82680a637_0_57"/>
          <p:cNvSpPr txBox="1"/>
          <p:nvPr>
            <p:ph idx="1" type="body"/>
          </p:nvPr>
        </p:nvSpPr>
        <p:spPr>
          <a:xfrm>
            <a:off x="457200" y="1291656"/>
            <a:ext cx="8034900" cy="2505000"/>
          </a:xfrm>
          <a:prstGeom prst="rect">
            <a:avLst/>
          </a:prstGeom>
          <a:noFill/>
          <a:ln>
            <a:noFill/>
          </a:ln>
        </p:spPr>
        <p:txBody>
          <a:bodyPr anchorCtr="0" anchor="t" bIns="45700" lIns="91425" spcFirstLastPara="1" rIns="91425" wrap="square" tIns="45700">
            <a:noAutofit/>
          </a:bodyPr>
          <a:lstStyle/>
          <a:p>
            <a:pPr indent="-355600" lvl="0" marL="457200" rtl="0" algn="l">
              <a:spcBef>
                <a:spcPts val="0"/>
              </a:spcBef>
              <a:spcAft>
                <a:spcPts val="0"/>
              </a:spcAft>
              <a:buSzPts val="2000"/>
              <a:buChar char="•"/>
            </a:pPr>
            <a:r>
              <a:rPr lang="en-US" sz="2000"/>
              <a:t>Neural network is a subset of machine learning.</a:t>
            </a:r>
            <a:endParaRPr sz="2000"/>
          </a:p>
          <a:p>
            <a:pPr indent="-355600" lvl="0" marL="457200" rtl="0" algn="l">
              <a:spcBef>
                <a:spcPts val="0"/>
              </a:spcBef>
              <a:spcAft>
                <a:spcPts val="0"/>
              </a:spcAft>
              <a:buSzPts val="2000"/>
              <a:buChar char="•"/>
            </a:pPr>
            <a:r>
              <a:rPr lang="en-US" sz="2000"/>
              <a:t>Neural networks are inspired by the human brain, mimicking the way that biological neurons signal to one another (Caprasi).</a:t>
            </a:r>
            <a:endParaRPr sz="2000"/>
          </a:p>
          <a:p>
            <a:pPr indent="-355600" lvl="0" marL="457200" rtl="0" algn="l">
              <a:spcBef>
                <a:spcPts val="0"/>
              </a:spcBef>
              <a:spcAft>
                <a:spcPts val="0"/>
              </a:spcAft>
              <a:buSzPts val="2000"/>
              <a:buChar char="•"/>
            </a:pPr>
            <a:r>
              <a:rPr lang="en-US" sz="2000"/>
              <a:t>They are algorithms modeled after the brain and designed to recognize patterns.</a:t>
            </a:r>
            <a:endParaRPr sz="2000"/>
          </a:p>
          <a:p>
            <a:pPr indent="-355600" lvl="0" marL="457200" rtl="0" algn="l">
              <a:spcBef>
                <a:spcPts val="0"/>
              </a:spcBef>
              <a:spcAft>
                <a:spcPts val="0"/>
              </a:spcAft>
              <a:buSzPts val="2000"/>
              <a:buChar char="•"/>
            </a:pPr>
            <a:r>
              <a:rPr lang="en-US" sz="2000"/>
              <a:t>They work by taking an input and producing an output (prediction and decision). </a:t>
            </a:r>
            <a:endParaRPr sz="2000"/>
          </a:p>
        </p:txBody>
      </p:sp>
      <p:pic>
        <p:nvPicPr>
          <p:cNvPr id="86" name="Google Shape;86;g3b82680a637_0_57"/>
          <p:cNvPicPr preferRelativeResize="0"/>
          <p:nvPr/>
        </p:nvPicPr>
        <p:blipFill>
          <a:blip r:embed="rId3">
            <a:alphaModFix/>
          </a:blip>
          <a:stretch>
            <a:fillRect/>
          </a:stretch>
        </p:blipFill>
        <p:spPr>
          <a:xfrm>
            <a:off x="336450" y="4056273"/>
            <a:ext cx="4876800" cy="1924050"/>
          </a:xfrm>
          <a:prstGeom prst="rect">
            <a:avLst/>
          </a:prstGeom>
          <a:noFill/>
          <a:ln>
            <a:noFill/>
          </a:ln>
        </p:spPr>
      </p:pic>
      <p:sp>
        <p:nvSpPr>
          <p:cNvPr id="87" name="Google Shape;87;g3b82680a637_0_57"/>
          <p:cNvSpPr txBox="1"/>
          <p:nvPr>
            <p:ph idx="2" type="body"/>
          </p:nvPr>
        </p:nvSpPr>
        <p:spPr>
          <a:xfrm>
            <a:off x="5081775" y="4171651"/>
            <a:ext cx="3893100" cy="1924200"/>
          </a:xfrm>
          <a:prstGeom prst="rect">
            <a:avLst/>
          </a:prstGeom>
          <a:noFill/>
          <a:ln>
            <a:noFill/>
          </a:ln>
        </p:spPr>
        <p:txBody>
          <a:bodyPr anchorCtr="0" anchor="t" bIns="45700" lIns="91425" spcFirstLastPara="1" rIns="91425" wrap="square" tIns="45700">
            <a:noAutofit/>
          </a:bodyPr>
          <a:lstStyle/>
          <a:p>
            <a:pPr indent="-355600" lvl="0" marL="457200" rtl="0" algn="l">
              <a:spcBef>
                <a:spcPts val="0"/>
              </a:spcBef>
              <a:spcAft>
                <a:spcPts val="0"/>
              </a:spcAft>
              <a:buSzPts val="2000"/>
              <a:buChar char="•"/>
            </a:pPr>
            <a:r>
              <a:rPr lang="en-US" sz="2000"/>
              <a:t>Applications/Examples:</a:t>
            </a:r>
            <a:endParaRPr sz="2000"/>
          </a:p>
          <a:p>
            <a:pPr indent="-355600" lvl="1" marL="914400" rtl="0" algn="l">
              <a:spcBef>
                <a:spcPts val="0"/>
              </a:spcBef>
              <a:spcAft>
                <a:spcPts val="0"/>
              </a:spcAft>
              <a:buSzPts val="2000"/>
              <a:buChar char="–"/>
            </a:pPr>
            <a:r>
              <a:rPr lang="en-US" sz="2000"/>
              <a:t>Doing laundry</a:t>
            </a:r>
            <a:endParaRPr sz="2000"/>
          </a:p>
          <a:p>
            <a:pPr indent="-355600" lvl="1" marL="914400" rtl="0" algn="l">
              <a:spcBef>
                <a:spcPts val="0"/>
              </a:spcBef>
              <a:spcAft>
                <a:spcPts val="0"/>
              </a:spcAft>
              <a:buSzPts val="2000"/>
              <a:buChar char="–"/>
            </a:pPr>
            <a:r>
              <a:rPr lang="en-US" sz="2000"/>
              <a:t>Your friend’s handwriting</a:t>
            </a:r>
            <a:endParaRPr sz="2000"/>
          </a:p>
          <a:p>
            <a:pPr indent="-355600" lvl="1" marL="914400" rtl="0" algn="l">
              <a:spcBef>
                <a:spcPts val="0"/>
              </a:spcBef>
              <a:spcAft>
                <a:spcPts val="0"/>
              </a:spcAft>
              <a:buSzPts val="2000"/>
              <a:buChar char="–"/>
            </a:pPr>
            <a:r>
              <a:rPr lang="en-US" sz="2000"/>
              <a:t>Machine being able to recognize cat/dog</a:t>
            </a:r>
            <a:endParaRPr sz="2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g3b82680a637_0_7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Deep Learning</a:t>
            </a:r>
            <a:endParaRPr/>
          </a:p>
        </p:txBody>
      </p:sp>
      <p:sp>
        <p:nvSpPr>
          <p:cNvPr id="93" name="Google Shape;93;g3b82680a637_0_74"/>
          <p:cNvSpPr txBox="1"/>
          <p:nvPr>
            <p:ph idx="1" type="body"/>
          </p:nvPr>
        </p:nvSpPr>
        <p:spPr>
          <a:xfrm>
            <a:off x="457200" y="1417650"/>
            <a:ext cx="8034900" cy="1297500"/>
          </a:xfrm>
          <a:prstGeom prst="rect">
            <a:avLst/>
          </a:prstGeom>
          <a:noFill/>
          <a:ln>
            <a:noFill/>
          </a:ln>
        </p:spPr>
        <p:txBody>
          <a:bodyPr anchorCtr="0" anchor="t" bIns="45700" lIns="91425" spcFirstLastPara="1" rIns="91425" wrap="square" tIns="45700">
            <a:noAutofit/>
          </a:bodyPr>
          <a:lstStyle/>
          <a:p>
            <a:pPr indent="-355600" lvl="0" marL="457200" rtl="0" algn="l">
              <a:spcBef>
                <a:spcPts val="0"/>
              </a:spcBef>
              <a:spcAft>
                <a:spcPts val="0"/>
              </a:spcAft>
              <a:buSzPts val="2000"/>
              <a:buChar char="•"/>
            </a:pPr>
            <a:r>
              <a:rPr lang="en-US" sz="2000"/>
              <a:t>Deep learning is a subset of machine learning driven by multilayered neural networks whose design is inspired by the structure of the human brain (IBM).</a:t>
            </a:r>
            <a:endParaRPr sz="2000"/>
          </a:p>
          <a:p>
            <a:pPr indent="-355600" lvl="0" marL="457200" rtl="0" algn="l">
              <a:spcBef>
                <a:spcPts val="0"/>
              </a:spcBef>
              <a:spcAft>
                <a:spcPts val="0"/>
              </a:spcAft>
              <a:buSzPts val="2000"/>
              <a:buChar char="•"/>
            </a:pPr>
            <a:r>
              <a:rPr lang="en-US" sz="2000"/>
              <a:t>Able to process more complicated task through huge amounts of data.</a:t>
            </a:r>
            <a:endParaRPr sz="2000"/>
          </a:p>
        </p:txBody>
      </p:sp>
      <p:pic>
        <p:nvPicPr>
          <p:cNvPr id="94" name="Google Shape;94;g3b82680a637_0_74"/>
          <p:cNvPicPr preferRelativeResize="0"/>
          <p:nvPr/>
        </p:nvPicPr>
        <p:blipFill>
          <a:blip r:embed="rId3">
            <a:alphaModFix/>
          </a:blip>
          <a:stretch>
            <a:fillRect/>
          </a:stretch>
        </p:blipFill>
        <p:spPr>
          <a:xfrm>
            <a:off x="148650" y="3183236"/>
            <a:ext cx="6089199" cy="3430600"/>
          </a:xfrm>
          <a:prstGeom prst="rect">
            <a:avLst/>
          </a:prstGeom>
          <a:noFill/>
          <a:ln>
            <a:noFill/>
          </a:ln>
        </p:spPr>
      </p:pic>
      <p:sp>
        <p:nvSpPr>
          <p:cNvPr id="95" name="Google Shape;95;g3b82680a637_0_74"/>
          <p:cNvSpPr txBox="1"/>
          <p:nvPr>
            <p:ph idx="2" type="body"/>
          </p:nvPr>
        </p:nvSpPr>
        <p:spPr>
          <a:xfrm>
            <a:off x="5625300" y="3702125"/>
            <a:ext cx="3363000" cy="1811700"/>
          </a:xfrm>
          <a:prstGeom prst="rect">
            <a:avLst/>
          </a:prstGeom>
          <a:noFill/>
          <a:ln>
            <a:noFill/>
          </a:ln>
        </p:spPr>
        <p:txBody>
          <a:bodyPr anchorCtr="0" anchor="t" bIns="45700" lIns="91425" spcFirstLastPara="1" rIns="91425" wrap="square" tIns="45700">
            <a:noAutofit/>
          </a:bodyPr>
          <a:lstStyle/>
          <a:p>
            <a:pPr indent="-355600" lvl="0" marL="457200" rtl="0" algn="l">
              <a:spcBef>
                <a:spcPts val="0"/>
              </a:spcBef>
              <a:spcAft>
                <a:spcPts val="0"/>
              </a:spcAft>
              <a:buSzPts val="2000"/>
              <a:buChar char="•"/>
            </a:pPr>
            <a:r>
              <a:rPr lang="en-US" sz="2000"/>
              <a:t>Applications/Examples:</a:t>
            </a:r>
            <a:endParaRPr sz="2000"/>
          </a:p>
          <a:p>
            <a:pPr indent="-355600" lvl="1" marL="914400" rtl="0" algn="l">
              <a:spcBef>
                <a:spcPts val="0"/>
              </a:spcBef>
              <a:spcAft>
                <a:spcPts val="0"/>
              </a:spcAft>
              <a:buSzPts val="2000"/>
              <a:buChar char="–"/>
            </a:pPr>
            <a:r>
              <a:rPr lang="en-US" sz="2000"/>
              <a:t>You being able to recognize your friend→ your phone has face recognition</a:t>
            </a:r>
            <a:endParaRPr sz="2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g3b82680a637_0_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AI vs Gen AI</a:t>
            </a:r>
            <a:endParaRPr/>
          </a:p>
        </p:txBody>
      </p:sp>
      <p:sp>
        <p:nvSpPr>
          <p:cNvPr id="101" name="Google Shape;101;g3b82680a637_0_2"/>
          <p:cNvSpPr txBox="1"/>
          <p:nvPr>
            <p:ph idx="1" type="body"/>
          </p:nvPr>
        </p:nvSpPr>
        <p:spPr>
          <a:xfrm>
            <a:off x="457200" y="1600200"/>
            <a:ext cx="4038600" cy="4526100"/>
          </a:xfrm>
          <a:prstGeom prst="rect">
            <a:avLst/>
          </a:prstGeom>
          <a:noFill/>
          <a:ln>
            <a:noFill/>
          </a:ln>
        </p:spPr>
        <p:txBody>
          <a:bodyPr anchorCtr="0" anchor="t" bIns="45700" lIns="91425" spcFirstLastPara="1" rIns="91425" wrap="square" tIns="45700">
            <a:noAutofit/>
          </a:bodyPr>
          <a:lstStyle/>
          <a:p>
            <a:pPr indent="-355600" lvl="0" marL="457200" rtl="0" algn="l">
              <a:spcBef>
                <a:spcPts val="0"/>
              </a:spcBef>
              <a:spcAft>
                <a:spcPts val="0"/>
              </a:spcAft>
              <a:buSzPts val="2000"/>
              <a:buChar char="•"/>
            </a:pPr>
            <a:r>
              <a:rPr lang="en-US" sz="2000"/>
              <a:t>AI is a </a:t>
            </a:r>
            <a:r>
              <a:rPr lang="en-US" sz="2000"/>
              <a:t>discipline, it’s a field of study.</a:t>
            </a:r>
            <a:endParaRPr sz="2000"/>
          </a:p>
          <a:p>
            <a:pPr indent="-355600" lvl="0" marL="457200" rtl="0" algn="l">
              <a:spcBef>
                <a:spcPts val="0"/>
              </a:spcBef>
              <a:spcAft>
                <a:spcPts val="0"/>
              </a:spcAft>
              <a:buSzPts val="2000"/>
              <a:buChar char="•"/>
            </a:pPr>
            <a:r>
              <a:rPr lang="en-US" sz="2000"/>
              <a:t>A common definition of AI is that it is a technology that enables machines to imitate various complex human skills (Sheikh et al.).</a:t>
            </a:r>
            <a:endParaRPr sz="2000"/>
          </a:p>
        </p:txBody>
      </p:sp>
      <p:sp>
        <p:nvSpPr>
          <p:cNvPr id="102" name="Google Shape;102;g3b82680a637_0_2"/>
          <p:cNvSpPr txBox="1"/>
          <p:nvPr>
            <p:ph idx="2" type="body"/>
          </p:nvPr>
        </p:nvSpPr>
        <p:spPr>
          <a:xfrm>
            <a:off x="4572000" y="1588231"/>
            <a:ext cx="4114800" cy="4526100"/>
          </a:xfrm>
          <a:prstGeom prst="rect">
            <a:avLst/>
          </a:prstGeom>
          <a:noFill/>
          <a:ln>
            <a:noFill/>
          </a:ln>
        </p:spPr>
        <p:txBody>
          <a:bodyPr anchorCtr="0" anchor="t" bIns="45700" lIns="91425" spcFirstLastPara="1" rIns="91425" wrap="square" tIns="45700">
            <a:noAutofit/>
          </a:bodyPr>
          <a:lstStyle/>
          <a:p>
            <a:pPr indent="-355600" lvl="0" marL="457200" rtl="0" algn="l">
              <a:spcBef>
                <a:spcPts val="0"/>
              </a:spcBef>
              <a:spcAft>
                <a:spcPts val="0"/>
              </a:spcAft>
              <a:buSzPts val="2000"/>
              <a:buChar char="•"/>
            </a:pPr>
            <a:r>
              <a:rPr lang="en-US" sz="2000"/>
              <a:t>Generative AI is a type of artificial intelligence technology that applies computational techniques, such as machine learning and deep learning, to generate seemingly new content in the forms of text, images, audio, and video from training data (Yu and Guo; Feuerriegel et al.).</a:t>
            </a:r>
            <a:endParaRPr sz="2000"/>
          </a:p>
          <a:p>
            <a:pPr indent="-355600" lvl="0" marL="457200" rtl="0" algn="l">
              <a:spcBef>
                <a:spcPts val="0"/>
              </a:spcBef>
              <a:spcAft>
                <a:spcPts val="0"/>
              </a:spcAft>
              <a:buSzPts val="2000"/>
              <a:buChar char="•"/>
            </a:pPr>
            <a:r>
              <a:rPr lang="en-US" sz="2000"/>
              <a:t>ChatGPT in 2022</a:t>
            </a:r>
            <a:endParaRPr sz="2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g3b81fcc07d7_0_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sz="4200"/>
              <a:t>Large Language Models (LLMs)</a:t>
            </a:r>
            <a:endParaRPr sz="4200"/>
          </a:p>
        </p:txBody>
      </p:sp>
      <p:sp>
        <p:nvSpPr>
          <p:cNvPr id="108" name="Google Shape;108;g3b81fcc07d7_0_12"/>
          <p:cNvSpPr txBox="1"/>
          <p:nvPr>
            <p:ph idx="1" type="body"/>
          </p:nvPr>
        </p:nvSpPr>
        <p:spPr>
          <a:xfrm>
            <a:off x="457200" y="1600200"/>
            <a:ext cx="4038600" cy="4526100"/>
          </a:xfrm>
          <a:prstGeom prst="rect">
            <a:avLst/>
          </a:prstGeom>
          <a:noFill/>
          <a:ln>
            <a:noFill/>
          </a:ln>
        </p:spPr>
        <p:txBody>
          <a:bodyPr anchorCtr="0" anchor="t" bIns="45700" lIns="91425" spcFirstLastPara="1" rIns="91425" wrap="square" tIns="45700">
            <a:noAutofit/>
          </a:bodyPr>
          <a:lstStyle/>
          <a:p>
            <a:pPr indent="-355600" lvl="0" marL="457200" rtl="0" algn="l">
              <a:spcBef>
                <a:spcPts val="0"/>
              </a:spcBef>
              <a:spcAft>
                <a:spcPts val="0"/>
              </a:spcAft>
              <a:buSzPts val="2000"/>
              <a:buChar char="•"/>
            </a:pPr>
            <a:r>
              <a:rPr lang="en-US" sz="2000"/>
              <a:t>A LLM is a form of gen AI. LLM focuses on generating human-like text based on the patterns learned from vast amounts of textual data during training process (Caprasi).</a:t>
            </a:r>
            <a:endParaRPr sz="2000"/>
          </a:p>
        </p:txBody>
      </p:sp>
      <p:sp>
        <p:nvSpPr>
          <p:cNvPr id="109" name="Google Shape;109;g3b81fcc07d7_0_12"/>
          <p:cNvSpPr txBox="1"/>
          <p:nvPr>
            <p:ph idx="2" type="body"/>
          </p:nvPr>
        </p:nvSpPr>
        <p:spPr>
          <a:xfrm>
            <a:off x="4648200" y="1600200"/>
            <a:ext cx="4038600" cy="4526100"/>
          </a:xfrm>
          <a:prstGeom prst="rect">
            <a:avLst/>
          </a:prstGeom>
          <a:noFill/>
          <a:ln>
            <a:noFill/>
          </a:ln>
        </p:spPr>
        <p:txBody>
          <a:bodyPr anchorCtr="0" anchor="t" bIns="45700" lIns="91425" spcFirstLastPara="1" rIns="91425" wrap="square" tIns="45700">
            <a:noAutofit/>
          </a:bodyPr>
          <a:lstStyle/>
          <a:p>
            <a:pPr indent="-355600" lvl="0" marL="457200" rtl="0" algn="l">
              <a:spcBef>
                <a:spcPts val="0"/>
              </a:spcBef>
              <a:spcAft>
                <a:spcPts val="0"/>
              </a:spcAft>
              <a:buSzPts val="2000"/>
              <a:buChar char="•"/>
            </a:pPr>
            <a:r>
              <a:rPr lang="en-US" sz="2000"/>
              <a:t>Language Models:</a:t>
            </a:r>
            <a:endParaRPr sz="2000"/>
          </a:p>
          <a:p>
            <a:pPr indent="0" lvl="0" marL="457200" rtl="0" algn="l">
              <a:spcBef>
                <a:spcPts val="0"/>
              </a:spcBef>
              <a:spcAft>
                <a:spcPts val="0"/>
              </a:spcAft>
              <a:buNone/>
            </a:pPr>
            <a:r>
              <a:rPr lang="en-US" sz="2000"/>
              <a:t>Gemini, Claude, GPT4/5, Deepseek, Llama, Gork, Qwen, </a:t>
            </a:r>
            <a:r>
              <a:rPr lang="en-US" sz="2000"/>
              <a:t>Mistral, BERT</a:t>
            </a:r>
            <a:r>
              <a:rPr lang="en-US" sz="2000"/>
              <a:t> …</a:t>
            </a:r>
            <a:endParaRPr sz="2000"/>
          </a:p>
          <a:p>
            <a:pPr indent="-355600" lvl="0" marL="457200" rtl="0" algn="l">
              <a:spcBef>
                <a:spcPts val="0"/>
              </a:spcBef>
              <a:spcAft>
                <a:spcPts val="0"/>
              </a:spcAft>
              <a:buSzPts val="2000"/>
              <a:buChar char="-"/>
            </a:pPr>
            <a:r>
              <a:rPr lang="en-US" sz="2000"/>
              <a:t>Who owns them?</a:t>
            </a:r>
            <a:endParaRPr sz="2000"/>
          </a:p>
          <a:p>
            <a:pPr indent="-355600" lvl="0" marL="457200" rtl="0" algn="l">
              <a:spcBef>
                <a:spcPts val="0"/>
              </a:spcBef>
              <a:spcAft>
                <a:spcPts val="0"/>
              </a:spcAft>
              <a:buSzPts val="2000"/>
              <a:buChar char="-"/>
            </a:pPr>
            <a:r>
              <a:rPr lang="en-US" sz="2000"/>
              <a:t>Where are they based?</a:t>
            </a:r>
            <a:endParaRPr sz="2000"/>
          </a:p>
        </p:txBody>
      </p:sp>
      <p:pic>
        <p:nvPicPr>
          <p:cNvPr id="110" name="Google Shape;110;g3b81fcc07d7_0_12"/>
          <p:cNvPicPr preferRelativeResize="0"/>
          <p:nvPr/>
        </p:nvPicPr>
        <p:blipFill>
          <a:blip r:embed="rId3">
            <a:alphaModFix/>
          </a:blip>
          <a:stretch>
            <a:fillRect/>
          </a:stretch>
        </p:blipFill>
        <p:spPr>
          <a:xfrm>
            <a:off x="1568450" y="3790950"/>
            <a:ext cx="6007101" cy="300355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3b81fcc07d7_0_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Heroes</a:t>
            </a:r>
            <a:r>
              <a:rPr lang="en-US"/>
              <a:t> we don’t talk about</a:t>
            </a:r>
            <a:endParaRPr/>
          </a:p>
        </p:txBody>
      </p:sp>
      <p:sp>
        <p:nvSpPr>
          <p:cNvPr id="116" name="Google Shape;116;g3b81fcc07d7_0_6"/>
          <p:cNvSpPr txBox="1"/>
          <p:nvPr>
            <p:ph idx="1" type="body"/>
          </p:nvPr>
        </p:nvSpPr>
        <p:spPr>
          <a:xfrm>
            <a:off x="457200" y="1600200"/>
            <a:ext cx="4038600" cy="4526100"/>
          </a:xfrm>
          <a:prstGeom prst="rect">
            <a:avLst/>
          </a:prstGeom>
          <a:noFill/>
          <a:ln>
            <a:noFill/>
          </a:ln>
        </p:spPr>
        <p:txBody>
          <a:bodyPr anchorCtr="0" anchor="t" bIns="45700" lIns="91425" spcFirstLastPara="1" rIns="91425" wrap="square" tIns="45700">
            <a:noAutofit/>
          </a:bodyPr>
          <a:lstStyle/>
          <a:p>
            <a:pPr indent="-406400" lvl="0" marL="457200" rtl="0" algn="l">
              <a:spcBef>
                <a:spcPts val="0"/>
              </a:spcBef>
              <a:spcAft>
                <a:spcPts val="0"/>
              </a:spcAft>
              <a:buSzPts val="2800"/>
              <a:buChar char="•"/>
            </a:pPr>
            <a:r>
              <a:rPr lang="en-US"/>
              <a:t>Ada Lovelace</a:t>
            </a:r>
            <a:endParaRPr/>
          </a:p>
          <a:p>
            <a:pPr indent="-406400" lvl="0" marL="457200" rtl="0" algn="l">
              <a:spcBef>
                <a:spcPts val="0"/>
              </a:spcBef>
              <a:spcAft>
                <a:spcPts val="0"/>
              </a:spcAft>
              <a:buSzPts val="2800"/>
              <a:buChar char="•"/>
            </a:pPr>
            <a:r>
              <a:rPr lang="en-US"/>
              <a:t>Grace Hopper</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g3b81fcc07d7_0_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AI in Our Lives (II)</a:t>
            </a:r>
            <a:endParaRPr/>
          </a:p>
        </p:txBody>
      </p:sp>
      <p:sp>
        <p:nvSpPr>
          <p:cNvPr id="122" name="Google Shape;122;g3b81fcc07d7_0_18"/>
          <p:cNvSpPr txBox="1"/>
          <p:nvPr>
            <p:ph idx="1" type="body"/>
          </p:nvPr>
        </p:nvSpPr>
        <p:spPr>
          <a:xfrm>
            <a:off x="457200" y="1600200"/>
            <a:ext cx="4038600" cy="4526100"/>
          </a:xfrm>
          <a:prstGeom prst="rect">
            <a:avLst/>
          </a:prstGeom>
          <a:noFill/>
          <a:ln>
            <a:noFill/>
          </a:ln>
        </p:spPr>
        <p:txBody>
          <a:bodyPr anchorCtr="0" anchor="t" bIns="45700" lIns="91425" spcFirstLastPara="1" rIns="91425" wrap="square" tIns="45700">
            <a:noAutofit/>
          </a:bodyPr>
          <a:lstStyle/>
          <a:p>
            <a:pPr indent="-406400" lvl="0" marL="457200" rtl="0" algn="l">
              <a:spcBef>
                <a:spcPts val="0"/>
              </a:spcBef>
              <a:spcAft>
                <a:spcPts val="0"/>
              </a:spcAft>
              <a:buSzPts val="2800"/>
              <a:buChar char="•"/>
            </a:pPr>
            <a:r>
              <a:rPr lang="en-US"/>
              <a:t>Reflecting on what we have talked about today, would you like to make some improvements of your document?</a:t>
            </a:r>
            <a:endParaRPr/>
          </a:p>
        </p:txBody>
      </p:sp>
      <p:sp>
        <p:nvSpPr>
          <p:cNvPr id="123" name="Google Shape;123;g3b81fcc07d7_0_18"/>
          <p:cNvSpPr txBox="1"/>
          <p:nvPr>
            <p:ph idx="2" type="body"/>
          </p:nvPr>
        </p:nvSpPr>
        <p:spPr>
          <a:xfrm>
            <a:off x="4648200" y="1600200"/>
            <a:ext cx="4038600" cy="4526100"/>
          </a:xfrm>
          <a:prstGeom prst="rect">
            <a:avLst/>
          </a:prstGeom>
          <a:noFill/>
          <a:ln>
            <a:noFill/>
          </a:ln>
        </p:spPr>
        <p:txBody>
          <a:bodyPr anchorCtr="0" anchor="t" bIns="45700" lIns="91425" spcFirstLastPara="1" rIns="91425" wrap="square" tIns="45700">
            <a:noAutofit/>
          </a:bodyPr>
          <a:lstStyle/>
          <a:p>
            <a:pPr indent="-406400" lvl="0" marL="457200" rtl="0" algn="l">
              <a:spcBef>
                <a:spcPts val="0"/>
              </a:spcBef>
              <a:spcAft>
                <a:spcPts val="0"/>
              </a:spcAft>
              <a:buSzPts val="2800"/>
              <a:buChar char="-"/>
            </a:pPr>
            <a:r>
              <a:rPr lang="en-US"/>
              <a:t>Make updates in your Google doc</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g3b82680a637_0_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References</a:t>
            </a:r>
            <a:endParaRPr/>
          </a:p>
        </p:txBody>
      </p:sp>
      <p:sp>
        <p:nvSpPr>
          <p:cNvPr id="129" name="Google Shape;129;g3b82680a637_0_10"/>
          <p:cNvSpPr txBox="1"/>
          <p:nvPr>
            <p:ph idx="1" type="body"/>
          </p:nvPr>
        </p:nvSpPr>
        <p:spPr>
          <a:xfrm>
            <a:off x="457200" y="1600200"/>
            <a:ext cx="8459400" cy="4396200"/>
          </a:xfrm>
          <a:prstGeom prst="rect">
            <a:avLst/>
          </a:prstGeom>
          <a:noFill/>
          <a:ln>
            <a:noFill/>
          </a:ln>
        </p:spPr>
        <p:txBody>
          <a:bodyPr anchorCtr="0" anchor="t" bIns="45700" lIns="91425" spcFirstLastPara="1" rIns="91425" wrap="square" tIns="45700">
            <a:noAutofit/>
          </a:bodyPr>
          <a:lstStyle/>
          <a:p>
            <a:pPr indent="-330200" lvl="0" marL="457200" rtl="0" algn="l">
              <a:spcBef>
                <a:spcPts val="0"/>
              </a:spcBef>
              <a:spcAft>
                <a:spcPts val="0"/>
              </a:spcAft>
              <a:buSzPts val="1600"/>
              <a:buAutoNum type="arabicPeriod"/>
            </a:pPr>
            <a:r>
              <a:rPr lang="en-US" sz="1600"/>
              <a:t>Caprasi, Chiara. “Artificial Intelligence, Machine Learning , Deep Learning &amp; Generative AI and More.” Women in Technology, 24 July 2023, </a:t>
            </a:r>
            <a:r>
              <a:rPr lang="en-US" sz="1600" u="sng">
                <a:solidFill>
                  <a:schemeClr val="hlink"/>
                </a:solidFill>
                <a:hlinkClick r:id="rId3"/>
              </a:rPr>
              <a:t>https://medium.com/womenintechnology/ai-c3412c5aa0ac</a:t>
            </a:r>
            <a:r>
              <a:rPr lang="en-US" sz="1600"/>
              <a:t>.</a:t>
            </a:r>
            <a:endParaRPr sz="1600"/>
          </a:p>
          <a:p>
            <a:pPr indent="-330200" lvl="0" marL="457200" rtl="0" algn="l">
              <a:spcBef>
                <a:spcPts val="0"/>
              </a:spcBef>
              <a:spcAft>
                <a:spcPts val="0"/>
              </a:spcAft>
              <a:buSzPts val="1600"/>
              <a:buAutoNum type="arabicPeriod"/>
            </a:pPr>
            <a:r>
              <a:rPr lang="en-US" sz="1600"/>
              <a:t>Feuerriegel, Stefan, et al. “Generative AI.” Business &amp; Information Systems Engineering, vol. 66, no. 1, Feb. 2024, pp. 111–26.</a:t>
            </a:r>
            <a:endParaRPr sz="1600"/>
          </a:p>
          <a:p>
            <a:pPr indent="-330200" lvl="0" marL="457200" rtl="0" algn="l">
              <a:spcBef>
                <a:spcPts val="0"/>
              </a:spcBef>
              <a:spcAft>
                <a:spcPts val="0"/>
              </a:spcAft>
              <a:buSzPts val="1600"/>
              <a:buAutoNum type="arabicPeriod"/>
            </a:pPr>
            <a:r>
              <a:rPr lang="en-US" sz="1600"/>
              <a:t>Sheikh, Haroon, et al. “Artificial Intelligence: Definition and Background.” Mission AI: The New System Technology, edited by Haroon</a:t>
            </a:r>
            <a:endParaRPr sz="1600"/>
          </a:p>
          <a:p>
            <a:pPr indent="-330200" lvl="0" marL="457200" rtl="0" algn="l">
              <a:spcBef>
                <a:spcPts val="0"/>
              </a:spcBef>
              <a:spcAft>
                <a:spcPts val="0"/>
              </a:spcAft>
              <a:buSzPts val="1600"/>
              <a:buAutoNum type="arabicPeriod"/>
            </a:pPr>
            <a:r>
              <a:rPr lang="en-US" sz="1600"/>
              <a:t>Sheikh et al., Springer International Publishing, 2023, pp. 15–41.</a:t>
            </a:r>
            <a:endParaRPr sz="1600"/>
          </a:p>
          <a:p>
            <a:pPr indent="-330200" lvl="0" marL="457200" rtl="0" algn="l">
              <a:spcBef>
                <a:spcPts val="0"/>
              </a:spcBef>
              <a:spcAft>
                <a:spcPts val="0"/>
              </a:spcAft>
              <a:buSzPts val="1600"/>
              <a:buAutoNum type="arabicPeriod"/>
            </a:pPr>
            <a:r>
              <a:rPr lang="en-US" sz="1600"/>
              <a:t>Sun, Kai, et al. “Artificial Intelligence and Machine Learning: Definition of Terms and Current Concepts in Critical Care Research.” Journal of Critical Care, vol. 82, Aug. 2024, p. 154792.</a:t>
            </a:r>
            <a:endParaRPr sz="1600"/>
          </a:p>
          <a:p>
            <a:pPr indent="-330200" lvl="0" marL="457200" rtl="0" algn="l">
              <a:spcBef>
                <a:spcPts val="0"/>
              </a:spcBef>
              <a:spcAft>
                <a:spcPts val="0"/>
              </a:spcAft>
              <a:buSzPts val="1600"/>
              <a:buAutoNum type="arabicPeriod"/>
            </a:pPr>
            <a:r>
              <a:rPr lang="en-US" sz="1600"/>
              <a:t>Yu, Hao, and Yunyun Guo. “Generative Artificial Intelligence Empowers Educational Reform: Current Status, Issues, and Prospects.” Frontiers in Education, vol. 8, June 2023.</a:t>
            </a:r>
            <a:endParaRPr sz="1600"/>
          </a:p>
          <a:p>
            <a:pPr indent="0" lvl="0" marL="0" rtl="0" algn="l">
              <a:spcBef>
                <a:spcPts val="0"/>
              </a:spcBef>
              <a:spcAft>
                <a:spcPts val="0"/>
              </a:spcAft>
              <a:buNone/>
            </a:pPr>
            <a:r>
              <a:t/>
            </a:r>
            <a:endParaRPr sz="16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partansWill_2 template">
  <a:themeElements>
    <a:clrScheme name="Custom 3">
      <a:dk1>
        <a:srgbClr val="000000"/>
      </a:dk1>
      <a:lt1>
        <a:srgbClr val="FFFFFF"/>
      </a:lt1>
      <a:dk2>
        <a:srgbClr val="18453B"/>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2019-05-04T17:12:28Z</dcterms:created>
  <dc:creator>Lauren Davies</dc:creator>
</cp:coreProperties>
</file>